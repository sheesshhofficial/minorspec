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present our institutional computational intelligence framework: a decoupled two-tier machine learning and evolutionary decision engine engineered specifically for systematic trading in volatile equity markets. Our work addresses the fundamental structural flaws of naive algorithmic models by separating signal probability estimation from multi-objective risk execution. I am presenting on behalf of my research partners Ashish Ranjan, Khuushi Maheshwari, and Satyanarayan H. from the Department of Computer Science at Manipal Institute of Technology.</a:t>
            </a:r>
          </a:p>
          <a:p/>
          <a:p>
            <a:r>
              <a:t>[Institutional Evidence &amp; Artifacts: PROJECT.md; reports/submission/VIVA_DEFENSE_NOTES.md; reports/submission/RESEARCH_PAPER_DRAFT.pdf]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algorithmic finance, naive machine learning setups face three fatal flaws. First is the directional trap: classification accuracy does not guarantee capital survival. If losses are unhedged, an accurate model blows up during flash crashes. Second is friction blindness: real trading costs twenty basis points round-trip in commissions, spreads, and slippage. Ignoring this creates phantom paper profits. Third is lookahead bias: naive cross-validation leaks tomorrow's prices into yesterday's model. Our mission was to build an institutional-grade architecture immune to all three vulnerabilities.</a:t>
            </a:r>
          </a:p>
          <a:p/>
          <a:p>
            <a:r>
              <a:t>[Institutional Evidence &amp; Artifacts: RESEARCH_PAPER_DRAFT.pdf Section 1; VIVA_DEFENSE_NOTES.md]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core architectural breakthrough is decoupling forecasting from trading rules. In Tier One, LightGBM is trained solely to estimate conditional upward probability over a three-day forward horizon. It never decides when to buy or sell. In Tier Two, NSGA-II takes this probability surface and evolves a seven-gene trading chromosome. It searches simultaneously for two conflicting goals: maximizing risk-adjusted return through Sharpe ratio, and minimizing peak capital impairment through Maximum Drawdown. This separation guarantees that trading rules adapt directly to market risk regimes.</a:t>
            </a:r>
          </a:p>
          <a:p/>
          <a:p>
            <a:r>
              <a:t>[Institutional Evidence &amp; Artifacts: src/pipeline.py; src/evolutionary_core.py; src/predictor.py]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price data is transformed through a causal pipeline computing twenty non-linear technical features grouped into four financial families. Trend features normalize moving average distances to capture mean-reversion. Momentum oscillators quantify rate-of-change and overbought exhaustion. Volatility dispersion metrics, especially Average True Range percentage, feed directly into both the machine learning model and the evolutionary stop-loss multipliers. Finally, volume ratios and regime filters prevent trades during illiquid market dislocations. All features strictly evaluate at bar close without forward leakage.</a:t>
            </a:r>
          </a:p>
          <a:p/>
          <a:p>
            <a:r>
              <a:t>[Institutional Evidence &amp; Artifacts: src/feature_pipeline.py; reports/ui/UI_REDESIGN_NOTES.md]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trading rule is encoded as a continuous seven-gene chromosome. The first two genes control entry and exit probability gates. The next three govern adaptive risk: Average True Range stop losses, profit targets, and trailing stops. The final two manage capital sizing and duration limits. Using Simulated Binary Crossover and Polynomial Mutation, NSGA-II sorts non-dominated solutions across multiple generations. Crucially, our selection governance freezes the primary strategy on the development partition before testing. We never cherry-pick test results.</a:t>
            </a:r>
          </a:p>
          <a:p/>
          <a:p>
            <a:r>
              <a:t>[Institutional Evidence &amp; Artifacts: src/evolutionary_core.py; ui/metadata.py]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satisfy institutional standards, our backtest engine implements four uncompromising principles. First, next-bar open execution: signals generated at close fill strictly at the next open. Second, real transaction friction: twenty basis points deducted per round trip. Third, conservative intrabar conflict handling: if price hits both stop-loss and profit target in the same bar, we assume the loss triggered first. Fourth, four-way chronological partitioning with three-bar purging buffers, eliminating label leakage between training, validation, development, and testing.</a:t>
            </a:r>
          </a:p>
          <a:p/>
          <a:p>
            <a:r>
              <a:t>[Institutional Evidence &amp; Artifacts: src/backtest_engine.py; tests/test_execution_mechanics.py]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empirical results from our six-year retrospective study across eighteen annual folds from 2020 through 2025. We maintain total intellectual honesty: passive buy-and-hold achieved higher cumulative returns because Indian equities experienced a powerful secular bull market. However, our evolutionary hybrid system accomplished its core mission: superior capital preservation. Across seventeen out of eighteen annual evaluations, our strategy delivered lower peak drawdowns by rotating to cash during downturns like the 2020 crash and 2022 bear market.</a:t>
            </a:r>
          </a:p>
          <a:p/>
          <a:p>
            <a:r>
              <a:t>[Institutional Evidence &amp; Artifacts: reports/experiments/results/stitched_aggregate_metrics.csv; paired_annual_comparisons.csv]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underwater drawdown curves on the left visually prove the asymmetric defense of our model. While passive buy-and-hold plunged forty-four percent in Reliance and thirty-four percent in Infosys, our hybrid strategy remained shielded. Furthermore, we validated fifty-four independent runs across three random seeds to confirm statistical stability. Ablation studies without machine learning collapsed under transaction costs, confirming that Tier One directional forecasting is essential for filtering unprofitable trades.</a:t>
            </a:r>
          </a:p>
          <a:p/>
          <a:p>
            <a:r>
              <a:t>[Institutional Evidence &amp; Artifacts: reports/experiments/figures/underwater_drawdowns.png; reports/experiments/results/campaign_raw_results.json]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operationalize this research, we engineered Evolutionary Market Lab, a responsive quantitative web cockpit built on Streamlit. It features five structured modules: an overview KPI deck, a strategy explorer mapping real-time Pareto frontiers, model diagnostics, a detailed trade audit journal with CSV exports, and full methodology documentation. The platform launches instantly via run_app.bat and is fortified by thirty-five automated offline unit and integration tests, ensuring flawless operational stability.</a:t>
            </a:r>
          </a:p>
          <a:p/>
          <a:p>
            <a:r>
              <a:t>[Institutional Evidence &amp; Artifacts: app.py; run_app.bat; tests/test_ui_app.py]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built a rigorous, verified, and institutional-ready computational intelligence framework. Our roadmap focuses on expanding to multi-asset portfolios across the NIFTY 50 and incorporating macroeconomic regime signals. This system offers a powerful commercial proposition for institutions: superior downside risk control and consistent capital preservation in turbulent markets. Thank you for your time and quantitative due diligence. We are now open for your questions.</a:t>
            </a:r>
          </a:p>
          <a:p/>
          <a:p>
            <a:r>
              <a:t>[Institutional Evidence &amp; Artifacts: reports/submission/RESEARCH_PAPER_DRAFT.pdf Section 6; reports/submission/COLLEGE_PROJECT_REPORT.pdf]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Rounded Rectangle 1"/>
          <p:cNvSpPr/>
          <p:nvPr/>
        </p:nvSpPr>
        <p:spPr>
          <a:xfrm>
            <a:off x="822960" y="1005840"/>
            <a:ext cx="10545775" cy="4846320"/>
          </a:xfrm>
          <a:prstGeom prst="roundRect">
            <a:avLst/>
          </a:prstGeom>
          <a:solidFill>
            <a:srgbClr val="121E3C"/>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1371600"/>
            <a:ext cx="9631375" cy="4114800"/>
          </a:xfrm>
          <a:prstGeom prst="rect">
            <a:avLst/>
          </a:prstGeom>
          <a:noFill/>
        </p:spPr>
        <p:txBody>
          <a:bodyPr wrap="square" lIns="0" tIns="0">
            <a:spAutoFit/>
          </a:bodyPr>
          <a:lstStyle/>
          <a:p>
            <a:pPr>
              <a:spcAft>
                <a:spcPts val="1600"/>
              </a:spcAft>
              <a:defRPr sz="1300" b="1">
                <a:solidFill>
                  <a:srgbClr val="00E5FF"/>
                </a:solidFill>
                <a:latin typeface="Calibri"/>
              </a:defRPr>
            </a:pPr>
            <a:r>
              <a:t>COMPUTATIONAL INTELLIGENCE &amp; QUANTITATIVE ASSET MANAGEMENT</a:t>
            </a:r>
          </a:p>
          <a:p>
            <a:pPr>
              <a:spcAft>
                <a:spcPts val="1400"/>
              </a:spcAft>
              <a:defRPr sz="3800" b="1">
                <a:solidFill>
                  <a:srgbClr val="F5F7FA"/>
                </a:solidFill>
                <a:latin typeface="Calibri"/>
              </a:defRPr>
            </a:pPr>
            <a:r>
              <a:t>Autonomous Two-Tier Market Predictor</a:t>
            </a:r>
            <a:br/>
            <a:r>
              <a:t>&amp; Evolutionary Strategy Engine</a:t>
            </a:r>
          </a:p>
          <a:p>
            <a:pPr>
              <a:spcAft>
                <a:spcPts val="3600"/>
              </a:spcAft>
              <a:defRPr sz="1800">
                <a:solidFill>
                  <a:srgbClr val="A0B2CD"/>
                </a:solidFill>
                <a:latin typeface="Calibri"/>
              </a:defRPr>
            </a:pPr>
            <a:r>
              <a:t>High-Fidelity LightGBM Directional Forecasting &amp; Multi-Objective NSGA-II Chromosome Discovery Under Realistic Frictions</a:t>
            </a:r>
          </a:p>
          <a:p>
            <a:pPr>
              <a:spcAft>
                <a:spcPts val="600"/>
              </a:spcAft>
              <a:defRPr sz="1800" b="1">
                <a:solidFill>
                  <a:srgbClr val="F5F7FA"/>
                </a:solidFill>
                <a:latin typeface="Calibri"/>
              </a:defRPr>
            </a:pPr>
            <a:r>
              <a:t>Principal Investigators: Ashish Ranjan   •   Khuushi Maheshwari   •   Satyanarayan H.</a:t>
            </a:r>
          </a:p>
          <a:p>
            <a:pPr>
              <a:defRPr sz="1500">
                <a:solidFill>
                  <a:srgbClr val="00C8FF"/>
                </a:solidFill>
                <a:latin typeface="Calibri"/>
              </a:defRPr>
            </a:pPr>
            <a:r>
              <a:t>Manipal Institute of Technology  |  Department of Computer Science  |  B.Tech Minor Specialization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822960" y="502920"/>
            <a:ext cx="10545775" cy="1097280"/>
          </a:xfrm>
          <a:prstGeom prst="rect">
            <a:avLst/>
          </a:prstGeom>
          <a:noFill/>
        </p:spPr>
        <p:txBody>
          <a:bodyPr wrap="square" lIns="0" tIns="0" rIns="0" bIns="0">
            <a:spAutoFit/>
          </a:bodyPr>
          <a:lstStyle/>
          <a:p>
            <a:pPr>
              <a:spcAft>
                <a:spcPts val="400"/>
              </a:spcAft>
              <a:defRPr sz="1200" b="1">
                <a:solidFill>
                  <a:srgbClr val="00E5FF"/>
                </a:solidFill>
                <a:latin typeface="Calibri"/>
              </a:defRPr>
            </a:pPr>
            <a:r>
              <a:t>MARKET INEFFICIENCIES &amp; PROBLEM STATEMENT</a:t>
            </a:r>
          </a:p>
          <a:p>
            <a:pPr>
              <a:defRPr sz="3200" b="1">
                <a:solidFill>
                  <a:srgbClr val="F5F7FA"/>
                </a:solidFill>
                <a:latin typeface="Calibri"/>
              </a:defRPr>
            </a:pPr>
            <a:r>
              <a:t>The Quantitative Paradox: Why Naive ML Trading Fails</a:t>
            </a:r>
          </a:p>
        </p:txBody>
      </p:sp>
      <p:sp>
        <p:nvSpPr>
          <p:cNvPr id="3" name="Rounded Rectangle 2"/>
          <p:cNvSpPr/>
          <p:nvPr/>
        </p:nvSpPr>
        <p:spPr>
          <a:xfrm>
            <a:off x="822960" y="1737360"/>
            <a:ext cx="3291840" cy="4297680"/>
          </a:xfrm>
          <a:prstGeom prst="roundRect">
            <a:avLst/>
          </a:prstGeom>
          <a:solidFill>
            <a:srgbClr val="121E3C"/>
          </a:solidFill>
          <a:ln w="15240">
            <a:solidFill>
              <a:srgbClr val="FF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920240"/>
            <a:ext cx="2834640" cy="3931920"/>
          </a:xfrm>
          <a:prstGeom prst="rect">
            <a:avLst/>
          </a:prstGeom>
          <a:noFill/>
        </p:spPr>
        <p:txBody>
          <a:bodyPr wrap="square" lIns="0" tIns="0">
            <a:spAutoFit/>
          </a:bodyPr>
          <a:lstStyle/>
          <a:p>
            <a:pPr>
              <a:spcAft>
                <a:spcPts val="400"/>
              </a:spcAft>
              <a:defRPr sz="2200" b="1">
                <a:solidFill>
                  <a:srgbClr val="FF5252"/>
                </a:solidFill>
                <a:latin typeface="Calibri"/>
              </a:defRPr>
            </a:pPr>
            <a:r>
              <a:t>The Directional Trap</a:t>
            </a:r>
          </a:p>
          <a:p>
            <a:pPr>
              <a:spcAft>
                <a:spcPts val="1800"/>
              </a:spcAft>
              <a:defRPr sz="1400" b="1">
                <a:solidFill>
                  <a:srgbClr val="F5F7FA"/>
                </a:solidFill>
                <a:latin typeface="Calibri"/>
              </a:defRPr>
            </a:pPr>
            <a:r>
              <a:t>High Accuracy != Profitability</a:t>
            </a:r>
          </a:p>
          <a:p>
            <a:pPr>
              <a:defRPr sz="1600">
                <a:solidFill>
                  <a:srgbClr val="A0B2CD"/>
                </a:solidFill>
                <a:latin typeface="Calibri"/>
              </a:defRPr>
            </a:pPr>
            <a:r>
              <a:t>Standard retail models optimize for classification accuracy. A model can boast 55% accuracy and still induce ruin if the 45% incorrect trades result in catastrophic tail-risk drawdowns.</a:t>
            </a:r>
          </a:p>
        </p:txBody>
      </p:sp>
      <p:sp>
        <p:nvSpPr>
          <p:cNvPr id="5" name="Rounded Rectangle 4"/>
          <p:cNvSpPr/>
          <p:nvPr/>
        </p:nvSpPr>
        <p:spPr>
          <a:xfrm>
            <a:off x="4443984" y="1737360"/>
            <a:ext cx="3291840" cy="4297680"/>
          </a:xfrm>
          <a:prstGeom prst="roundRect">
            <a:avLst/>
          </a:prstGeom>
          <a:solidFill>
            <a:srgbClr val="121E3C"/>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72584" y="1920240"/>
            <a:ext cx="2834640" cy="3931920"/>
          </a:xfrm>
          <a:prstGeom prst="rect">
            <a:avLst/>
          </a:prstGeom>
          <a:noFill/>
        </p:spPr>
        <p:txBody>
          <a:bodyPr wrap="square" lIns="0" tIns="0">
            <a:spAutoFit/>
          </a:bodyPr>
          <a:lstStyle/>
          <a:p>
            <a:pPr>
              <a:spcAft>
                <a:spcPts val="400"/>
              </a:spcAft>
              <a:defRPr sz="2200" b="1">
                <a:solidFill>
                  <a:srgbClr val="FF9100"/>
                </a:solidFill>
                <a:latin typeface="Calibri"/>
              </a:defRPr>
            </a:pPr>
            <a:r>
              <a:t>Friction Blindness</a:t>
            </a:r>
          </a:p>
          <a:p>
            <a:pPr>
              <a:spcAft>
                <a:spcPts val="1800"/>
              </a:spcAft>
              <a:defRPr sz="1400" b="1">
                <a:solidFill>
                  <a:srgbClr val="F5F7FA"/>
                </a:solidFill>
                <a:latin typeface="Calibri"/>
              </a:defRPr>
            </a:pPr>
            <a:r>
              <a:t>Zero-Cost Fantasy vs Reality</a:t>
            </a:r>
          </a:p>
          <a:p>
            <a:pPr>
              <a:defRPr sz="1600">
                <a:solidFill>
                  <a:srgbClr val="A0B2CD"/>
                </a:solidFill>
                <a:latin typeface="Calibri"/>
              </a:defRPr>
            </a:pPr>
            <a:r>
              <a:t>Academic backtests routinely ignore real-world execution drag. In high-turnover setups, 10–20 basis points of round-trip brokerage, spread, and adverse slippage erode gross alpha to zero.</a:t>
            </a:r>
          </a:p>
        </p:txBody>
      </p:sp>
      <p:sp>
        <p:nvSpPr>
          <p:cNvPr id="7" name="Rounded Rectangle 6"/>
          <p:cNvSpPr/>
          <p:nvPr/>
        </p:nvSpPr>
        <p:spPr>
          <a:xfrm>
            <a:off x="8065008" y="1737360"/>
            <a:ext cx="3291840" cy="4297680"/>
          </a:xfrm>
          <a:prstGeom prst="roundRect">
            <a:avLst/>
          </a:prstGeom>
          <a:solidFill>
            <a:srgbClr val="121E3C"/>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93608" y="1920240"/>
            <a:ext cx="2834640" cy="3931920"/>
          </a:xfrm>
          <a:prstGeom prst="rect">
            <a:avLst/>
          </a:prstGeom>
          <a:noFill/>
        </p:spPr>
        <p:txBody>
          <a:bodyPr wrap="square" lIns="0" tIns="0">
            <a:spAutoFit/>
          </a:bodyPr>
          <a:lstStyle/>
          <a:p>
            <a:pPr>
              <a:spcAft>
                <a:spcPts val="400"/>
              </a:spcAft>
              <a:defRPr sz="2200" b="1">
                <a:solidFill>
                  <a:srgbClr val="00E5FF"/>
                </a:solidFill>
                <a:latin typeface="Calibri"/>
              </a:defRPr>
            </a:pPr>
            <a:r>
              <a:t>Lookahead Contamination</a:t>
            </a:r>
          </a:p>
          <a:p>
            <a:pPr>
              <a:spcAft>
                <a:spcPts val="1800"/>
              </a:spcAft>
              <a:defRPr sz="1400" b="1">
                <a:solidFill>
                  <a:srgbClr val="F5F7FA"/>
                </a:solidFill>
                <a:latin typeface="Calibri"/>
              </a:defRPr>
            </a:pPr>
            <a:r>
              <a:t>Data Snooping &amp; Overfitting</a:t>
            </a:r>
          </a:p>
          <a:p>
            <a:pPr>
              <a:defRPr sz="1600">
                <a:solidFill>
                  <a:srgbClr val="A0B2CD"/>
                </a:solidFill>
                <a:latin typeface="Calibri"/>
              </a:defRPr>
            </a:pPr>
            <a:r>
              <a:t>Random K-fold validation leaks future price dynamics into past training sets. Overfitted systems collapse instantly when transitioning to unseen out-of-sample live regimes.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822960" y="502920"/>
            <a:ext cx="10545775" cy="1097280"/>
          </a:xfrm>
          <a:prstGeom prst="rect">
            <a:avLst/>
          </a:prstGeom>
          <a:noFill/>
        </p:spPr>
        <p:txBody>
          <a:bodyPr wrap="square" lIns="0" tIns="0" rIns="0" bIns="0">
            <a:spAutoFit/>
          </a:bodyPr>
          <a:lstStyle/>
          <a:p>
            <a:pPr>
              <a:spcAft>
                <a:spcPts val="400"/>
              </a:spcAft>
              <a:defRPr sz="1200" b="1">
                <a:solidFill>
                  <a:srgbClr val="00E5FF"/>
                </a:solidFill>
                <a:latin typeface="Calibri"/>
              </a:defRPr>
            </a:pPr>
            <a:r>
              <a:t>SYSTEM ENGINEERING</a:t>
            </a:r>
          </a:p>
          <a:p>
            <a:pPr>
              <a:defRPr sz="3200" b="1">
                <a:solidFill>
                  <a:srgbClr val="F5F7FA"/>
                </a:solidFill>
                <a:latin typeface="Calibri"/>
              </a:defRPr>
            </a:pPr>
            <a:r>
              <a:t>Decoupled Architecture: Prediction vs. Evolutionary Control</a:t>
            </a:r>
          </a:p>
        </p:txBody>
      </p:sp>
      <p:sp>
        <p:nvSpPr>
          <p:cNvPr id="3" name="Rounded Rectangle 2"/>
          <p:cNvSpPr/>
          <p:nvPr/>
        </p:nvSpPr>
        <p:spPr>
          <a:xfrm>
            <a:off x="822960" y="1737360"/>
            <a:ext cx="5120640" cy="4297680"/>
          </a:xfrm>
          <a:prstGeom prst="roundRect">
            <a:avLst/>
          </a:prstGeom>
          <a:solidFill>
            <a:srgbClr val="121E3C"/>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920240"/>
            <a:ext cx="4572000" cy="3931920"/>
          </a:xfrm>
          <a:prstGeom prst="rect">
            <a:avLst/>
          </a:prstGeom>
          <a:noFill/>
        </p:spPr>
        <p:txBody>
          <a:bodyPr wrap="square" lIns="0" tIns="0">
            <a:spAutoFit/>
          </a:bodyPr>
          <a:lstStyle/>
          <a:p>
            <a:pPr>
              <a:spcAft>
                <a:spcPts val="600"/>
              </a:spcAft>
              <a:defRPr sz="1400" b="1">
                <a:solidFill>
                  <a:srgbClr val="00E5FF"/>
                </a:solidFill>
                <a:latin typeface="Calibri"/>
              </a:defRPr>
            </a:pPr>
            <a:r>
              <a:t>TIER 1: PREDICTIVE INTELLIGENCE</a:t>
            </a:r>
          </a:p>
          <a:p>
            <a:pPr>
              <a:spcAft>
                <a:spcPts val="1400"/>
              </a:spcAft>
              <a:defRPr sz="2200" b="1">
                <a:solidFill>
                  <a:srgbClr val="F5F7FA"/>
                </a:solidFill>
                <a:latin typeface="Calibri"/>
              </a:defRPr>
            </a:pPr>
            <a:r>
              <a:t>LightGBM Gradient Boosted Decision Trees</a:t>
            </a:r>
          </a:p>
          <a:p>
            <a:pPr>
              <a:spcAft>
                <a:spcPts val="800"/>
              </a:spcAft>
            </a:pPr>
            <a:r>
              <a:rPr b="1" sz="1500">
                <a:solidFill>
                  <a:srgbClr val="00E5FF"/>
                </a:solidFill>
              </a:rPr>
              <a:t>• Causal Factor Engine:</a:t>
            </a:r>
            <a:r>
              <a:rPr sz="1500">
                <a:solidFill>
                  <a:srgbClr val="A0B2CD"/>
                </a:solidFill>
              </a:rPr>
              <a:t> Computes 20 technical momentum, trend, and volatility features.</a:t>
            </a:r>
          </a:p>
          <a:p>
            <a:pPr>
              <a:spcAft>
                <a:spcPts val="800"/>
              </a:spcAft>
            </a:pPr>
            <a:r>
              <a:rPr b="1" sz="1500">
                <a:solidFill>
                  <a:srgbClr val="00E5FF"/>
                </a:solidFill>
              </a:rPr>
              <a:t>• Directional Horizon:</a:t>
            </a:r>
            <a:r>
              <a:rPr sz="1500">
                <a:solidFill>
                  <a:srgbClr val="A0B2CD"/>
                </a:solidFill>
              </a:rPr>
              <a:t> Predicts forward 3-day directional movement with strict purging.</a:t>
            </a:r>
          </a:p>
          <a:p>
            <a:pPr>
              <a:spcAft>
                <a:spcPts val="800"/>
              </a:spcAft>
            </a:pPr>
            <a:r>
              <a:rPr b="1" sz="1500">
                <a:solidFill>
                  <a:srgbClr val="00E5FF"/>
                </a:solidFill>
              </a:rPr>
              <a:t>• Probabilistic Output:</a:t>
            </a:r>
            <a:r>
              <a:rPr sz="1500">
                <a:solidFill>
                  <a:srgbClr val="A0B2CD"/>
                </a:solidFill>
              </a:rPr>
              <a:t> Generates continuous probability P_up in [0, 1] without rigid binary entry triggers.</a:t>
            </a:r>
          </a:p>
          <a:p>
            <a:pPr>
              <a:spcAft>
                <a:spcPts val="800"/>
              </a:spcAft>
            </a:pPr>
            <a:r>
              <a:rPr b="1" sz="1500">
                <a:solidFill>
                  <a:srgbClr val="00E5FF"/>
                </a:solidFill>
              </a:rPr>
              <a:t>• Validation Tuning:</a:t>
            </a:r>
            <a:r>
              <a:rPr sz="1500">
                <a:solidFill>
                  <a:srgbClr val="A0B2CD"/>
                </a:solidFill>
              </a:rPr>
              <a:t> Early-stopped on dedicated validation splits to guarantee generalization.</a:t>
            </a:r>
          </a:p>
        </p:txBody>
      </p:sp>
      <p:sp>
        <p:nvSpPr>
          <p:cNvPr id="5" name="Rounded Rectangle 4"/>
          <p:cNvSpPr/>
          <p:nvPr/>
        </p:nvSpPr>
        <p:spPr>
          <a:xfrm>
            <a:off x="6217920" y="1737360"/>
            <a:ext cx="5120640" cy="4297680"/>
          </a:xfrm>
          <a:prstGeom prst="roundRect">
            <a:avLst/>
          </a:prstGeom>
          <a:solidFill>
            <a:srgbClr val="121E3C"/>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920240"/>
            <a:ext cx="4572000" cy="3931920"/>
          </a:xfrm>
          <a:prstGeom prst="rect">
            <a:avLst/>
          </a:prstGeom>
          <a:noFill/>
        </p:spPr>
        <p:txBody>
          <a:bodyPr wrap="square" lIns="0" tIns="0">
            <a:spAutoFit/>
          </a:bodyPr>
          <a:lstStyle/>
          <a:p>
            <a:pPr>
              <a:spcAft>
                <a:spcPts val="600"/>
              </a:spcAft>
              <a:defRPr sz="1400" b="1">
                <a:solidFill>
                  <a:srgbClr val="00E676"/>
                </a:solidFill>
                <a:latin typeface="Calibri"/>
              </a:defRPr>
            </a:pPr>
            <a:r>
              <a:t>TIER 2: EVOLUTIONARY DECISION ENGINE</a:t>
            </a:r>
          </a:p>
          <a:p>
            <a:pPr>
              <a:spcAft>
                <a:spcPts val="1400"/>
              </a:spcAft>
              <a:defRPr sz="2200" b="1">
                <a:solidFill>
                  <a:srgbClr val="F5F7FA"/>
                </a:solidFill>
                <a:latin typeface="Calibri"/>
              </a:defRPr>
            </a:pPr>
            <a:r>
              <a:t>NSGA-II Multi-Objective Optimization</a:t>
            </a:r>
          </a:p>
          <a:p>
            <a:pPr>
              <a:spcAft>
                <a:spcPts val="800"/>
              </a:spcAft>
            </a:pPr>
            <a:r>
              <a:rPr b="1" sz="1500">
                <a:solidFill>
                  <a:srgbClr val="00E676"/>
                </a:solidFill>
              </a:rPr>
              <a:t>• 7-Gene Chromosomes:</a:t>
            </a:r>
            <a:r>
              <a:rPr sz="1500">
                <a:solidFill>
                  <a:srgbClr val="A0B2CD"/>
                </a:solidFill>
              </a:rPr>
              <a:t> Dynamically optimizes entry, exit, stop-loss, profit target, and holding bounds.</a:t>
            </a:r>
          </a:p>
          <a:p>
            <a:pPr>
              <a:spcAft>
                <a:spcPts val="800"/>
              </a:spcAft>
            </a:pPr>
            <a:r>
              <a:rPr b="1" sz="1500">
                <a:solidFill>
                  <a:srgbClr val="00E676"/>
                </a:solidFill>
              </a:rPr>
              <a:t>• Multi-Objective Frontier:</a:t>
            </a:r>
            <a:r>
              <a:rPr sz="1500">
                <a:solidFill>
                  <a:srgbClr val="A0B2CD"/>
                </a:solidFill>
              </a:rPr>
              <a:t> Simultaneously maximizes Sharpe Ratio while minimizing Maximum Drawdown.</a:t>
            </a:r>
          </a:p>
          <a:p>
            <a:pPr>
              <a:spcAft>
                <a:spcPts val="800"/>
              </a:spcAft>
            </a:pPr>
            <a:r>
              <a:rPr b="1" sz="1500">
                <a:solidFill>
                  <a:srgbClr val="00E676"/>
                </a:solidFill>
              </a:rPr>
              <a:t>• Survival of the Fittest:</a:t>
            </a:r>
            <a:r>
              <a:rPr sz="1500">
                <a:solidFill>
                  <a:srgbClr val="A0B2CD"/>
                </a:solidFill>
              </a:rPr>
              <a:t> Fast non-dominated sorting and crowding distance preserve frontier diversity.</a:t>
            </a:r>
          </a:p>
          <a:p>
            <a:pPr>
              <a:spcAft>
                <a:spcPts val="800"/>
              </a:spcAft>
            </a:pPr>
            <a:r>
              <a:rPr b="1" sz="1500">
                <a:solidFill>
                  <a:srgbClr val="00E676"/>
                </a:solidFill>
              </a:rPr>
              <a:t>• Frozen Primary Selection:</a:t>
            </a:r>
            <a:r>
              <a:rPr sz="1500">
                <a:solidFill>
                  <a:srgbClr val="A0B2CD"/>
                </a:solidFill>
              </a:rPr>
              <a:t> Best candidate on Development partition is frozen before Out-of-Sample testing.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822960" y="502920"/>
            <a:ext cx="10545775" cy="1097280"/>
          </a:xfrm>
          <a:prstGeom prst="rect">
            <a:avLst/>
          </a:prstGeom>
          <a:noFill/>
        </p:spPr>
        <p:txBody>
          <a:bodyPr wrap="square" lIns="0" tIns="0" rIns="0" bIns="0">
            <a:spAutoFit/>
          </a:bodyPr>
          <a:lstStyle/>
          <a:p>
            <a:pPr>
              <a:spcAft>
                <a:spcPts val="400"/>
              </a:spcAft>
              <a:defRPr sz="1200" b="1">
                <a:solidFill>
                  <a:srgbClr val="00E5FF"/>
                </a:solidFill>
                <a:latin typeface="Calibri"/>
              </a:defRPr>
            </a:pPr>
            <a:r>
              <a:t>QUANTITATIVE ALPHA SIGNALS</a:t>
            </a:r>
          </a:p>
          <a:p>
            <a:pPr>
              <a:defRPr sz="3200" b="1">
                <a:solidFill>
                  <a:srgbClr val="F5F7FA"/>
                </a:solidFill>
                <a:latin typeface="Calibri"/>
              </a:defRPr>
            </a:pPr>
            <a:r>
              <a:t>Feature Engineering: 20 Microstructure &amp; Volatility Factors</a:t>
            </a:r>
          </a:p>
        </p:txBody>
      </p:sp>
      <p:sp>
        <p:nvSpPr>
          <p:cNvPr id="3" name="Rounded Rectangle 2"/>
          <p:cNvSpPr/>
          <p:nvPr/>
        </p:nvSpPr>
        <p:spPr>
          <a:xfrm>
            <a:off x="822960" y="1737360"/>
            <a:ext cx="2468880" cy="4297680"/>
          </a:xfrm>
          <a:prstGeom prst="roundRect">
            <a:avLst/>
          </a:prstGeom>
          <a:solidFill>
            <a:srgbClr val="121E3C"/>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1920240"/>
            <a:ext cx="2139696" cy="3931920"/>
          </a:xfrm>
          <a:prstGeom prst="rect">
            <a:avLst/>
          </a:prstGeom>
          <a:noFill/>
        </p:spPr>
        <p:txBody>
          <a:bodyPr wrap="square" lIns="0" tIns="0">
            <a:spAutoFit/>
          </a:bodyPr>
          <a:lstStyle/>
          <a:p>
            <a:pPr>
              <a:spcAft>
                <a:spcPts val="1400"/>
              </a:spcAft>
              <a:defRPr sz="1700" b="1">
                <a:solidFill>
                  <a:srgbClr val="00E5FF"/>
                </a:solidFill>
                <a:latin typeface="Calibri"/>
              </a:defRPr>
            </a:pPr>
            <a:r>
              <a:t>Trend &amp; Moving Distances</a:t>
            </a:r>
          </a:p>
          <a:p>
            <a:pPr>
              <a:spcAft>
                <a:spcPts val="800"/>
              </a:spcAft>
              <a:defRPr sz="1300">
                <a:solidFill>
                  <a:srgbClr val="A0B2CD"/>
                </a:solidFill>
                <a:latin typeface="Calibri"/>
              </a:defRPr>
            </a:pPr>
            <a:r>
              <a:t>• dist_sma_10: Normalized distance to 10-day SMA</a:t>
            </a:r>
          </a:p>
          <a:p>
            <a:pPr>
              <a:spcAft>
                <a:spcPts val="800"/>
              </a:spcAft>
              <a:defRPr sz="1300">
                <a:solidFill>
                  <a:srgbClr val="A0B2CD"/>
                </a:solidFill>
                <a:latin typeface="Calibri"/>
              </a:defRPr>
            </a:pPr>
            <a:r>
              <a:t>• dist_sma_50: Distance to medium-term 50-day SMA</a:t>
            </a:r>
          </a:p>
          <a:p>
            <a:pPr>
              <a:spcAft>
                <a:spcPts val="800"/>
              </a:spcAft>
              <a:defRPr sz="1300">
                <a:solidFill>
                  <a:srgbClr val="A0B2CD"/>
                </a:solidFill>
                <a:latin typeface="Calibri"/>
              </a:defRPr>
            </a:pPr>
            <a:r>
              <a:t>• dist_ema_20: Exponential smoothing trend anchor</a:t>
            </a:r>
          </a:p>
          <a:p>
            <a:pPr>
              <a:spcAft>
                <a:spcPts val="800"/>
              </a:spcAft>
              <a:defRPr sz="1300">
                <a:solidFill>
                  <a:srgbClr val="A0B2CD"/>
                </a:solidFill>
                <a:latin typeface="Calibri"/>
              </a:defRPr>
            </a:pPr>
            <a:r>
              <a:t>• sma_ratio: Ratio between SMA_10 and SMA_50</a:t>
            </a:r>
          </a:p>
        </p:txBody>
      </p:sp>
      <p:sp>
        <p:nvSpPr>
          <p:cNvPr id="5" name="Rounded Rectangle 4"/>
          <p:cNvSpPr/>
          <p:nvPr/>
        </p:nvSpPr>
        <p:spPr>
          <a:xfrm>
            <a:off x="3511296" y="1737360"/>
            <a:ext cx="2468880" cy="4297680"/>
          </a:xfrm>
          <a:prstGeom prst="roundRect">
            <a:avLst/>
          </a:prstGeom>
          <a:solidFill>
            <a:srgbClr val="121E3C"/>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75888" y="1920240"/>
            <a:ext cx="2139696" cy="3931920"/>
          </a:xfrm>
          <a:prstGeom prst="rect">
            <a:avLst/>
          </a:prstGeom>
          <a:noFill/>
        </p:spPr>
        <p:txBody>
          <a:bodyPr wrap="square" lIns="0" tIns="0">
            <a:spAutoFit/>
          </a:bodyPr>
          <a:lstStyle/>
          <a:p>
            <a:pPr>
              <a:spcAft>
                <a:spcPts val="1400"/>
              </a:spcAft>
              <a:defRPr sz="1700" b="1">
                <a:solidFill>
                  <a:srgbClr val="00E676"/>
                </a:solidFill>
                <a:latin typeface="Calibri"/>
              </a:defRPr>
            </a:pPr>
            <a:r>
              <a:t>Momentum &amp; Oscillators</a:t>
            </a:r>
          </a:p>
          <a:p>
            <a:pPr>
              <a:spcAft>
                <a:spcPts val="800"/>
              </a:spcAft>
              <a:defRPr sz="1300">
                <a:solidFill>
                  <a:srgbClr val="A0B2CD"/>
                </a:solidFill>
                <a:latin typeface="Calibri"/>
              </a:defRPr>
            </a:pPr>
            <a:r>
              <a:t>• rsi_14: 14-period Relative Strength Index</a:t>
            </a:r>
          </a:p>
          <a:p>
            <a:pPr>
              <a:spcAft>
                <a:spcPts val="800"/>
              </a:spcAft>
              <a:defRPr sz="1300">
                <a:solidFill>
                  <a:srgbClr val="A0B2CD"/>
                </a:solidFill>
                <a:latin typeface="Calibri"/>
              </a:defRPr>
            </a:pPr>
            <a:r>
              <a:t>• roc_5 / roc_20: Short &amp; medium Rate of Change</a:t>
            </a:r>
          </a:p>
          <a:p>
            <a:pPr>
              <a:spcAft>
                <a:spcPts val="800"/>
              </a:spcAft>
              <a:defRPr sz="1300">
                <a:solidFill>
                  <a:srgbClr val="A0B2CD"/>
                </a:solidFill>
                <a:latin typeface="Calibri"/>
              </a:defRPr>
            </a:pPr>
            <a:r>
              <a:t>• macd / macd_signal / macd_hist: Moving convergence</a:t>
            </a:r>
          </a:p>
          <a:p>
            <a:pPr>
              <a:spcAft>
                <a:spcPts val="800"/>
              </a:spcAft>
              <a:defRPr sz="1300">
                <a:solidFill>
                  <a:srgbClr val="A0B2CD"/>
                </a:solidFill>
                <a:latin typeface="Calibri"/>
              </a:defRPr>
            </a:pPr>
            <a:r>
              <a:t>• stoch_k / stoch_d: Stochastic momentum bounds</a:t>
            </a:r>
          </a:p>
        </p:txBody>
      </p:sp>
      <p:sp>
        <p:nvSpPr>
          <p:cNvPr id="7" name="Rounded Rectangle 6"/>
          <p:cNvSpPr/>
          <p:nvPr/>
        </p:nvSpPr>
        <p:spPr>
          <a:xfrm>
            <a:off x="6199632" y="1737360"/>
            <a:ext cx="2468880" cy="4297680"/>
          </a:xfrm>
          <a:prstGeom prst="roundRect">
            <a:avLst/>
          </a:prstGeom>
          <a:solidFill>
            <a:srgbClr val="121E3C"/>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4224" y="1920240"/>
            <a:ext cx="2139696" cy="3931920"/>
          </a:xfrm>
          <a:prstGeom prst="rect">
            <a:avLst/>
          </a:prstGeom>
          <a:noFill/>
        </p:spPr>
        <p:txBody>
          <a:bodyPr wrap="square" lIns="0" tIns="0">
            <a:spAutoFit/>
          </a:bodyPr>
          <a:lstStyle/>
          <a:p>
            <a:pPr>
              <a:spcAft>
                <a:spcPts val="1400"/>
              </a:spcAft>
              <a:defRPr sz="1700" b="1">
                <a:solidFill>
                  <a:srgbClr val="FF9100"/>
                </a:solidFill>
                <a:latin typeface="Calibri"/>
              </a:defRPr>
            </a:pPr>
            <a:r>
              <a:t>Volatility &amp; Dispersion</a:t>
            </a:r>
          </a:p>
          <a:p>
            <a:pPr>
              <a:spcAft>
                <a:spcPts val="800"/>
              </a:spcAft>
              <a:defRPr sz="1300">
                <a:solidFill>
                  <a:srgbClr val="A0B2CD"/>
                </a:solidFill>
                <a:latin typeface="Calibri"/>
              </a:defRPr>
            </a:pPr>
            <a:r>
              <a:t>• atr_pct: 14-day Average True Range / Close price</a:t>
            </a:r>
          </a:p>
          <a:p>
            <a:pPr>
              <a:spcAft>
                <a:spcPts val="800"/>
              </a:spcAft>
              <a:defRPr sz="1300">
                <a:solidFill>
                  <a:srgbClr val="A0B2CD"/>
                </a:solidFill>
                <a:latin typeface="Calibri"/>
              </a:defRPr>
            </a:pPr>
            <a:r>
              <a:t>• bb_width / bb_pct: Bollinger band volatility spread</a:t>
            </a:r>
          </a:p>
          <a:p>
            <a:pPr>
              <a:spcAft>
                <a:spcPts val="800"/>
              </a:spcAft>
              <a:defRPr sz="1300">
                <a:solidFill>
                  <a:srgbClr val="A0B2CD"/>
                </a:solidFill>
                <a:latin typeface="Calibri"/>
              </a:defRPr>
            </a:pPr>
            <a:r>
              <a:t>• historical_vol_20: 20-day annualized log-return sigma</a:t>
            </a:r>
          </a:p>
          <a:p>
            <a:pPr>
              <a:spcAft>
                <a:spcPts val="800"/>
              </a:spcAft>
              <a:defRPr sz="1300">
                <a:solidFill>
                  <a:srgbClr val="A0B2CD"/>
                </a:solidFill>
                <a:latin typeface="Calibri"/>
              </a:defRPr>
            </a:pPr>
            <a:r>
              <a:t>• Dynamic Volatility Stops: Calibrated intraday risk</a:t>
            </a:r>
          </a:p>
        </p:txBody>
      </p:sp>
      <p:sp>
        <p:nvSpPr>
          <p:cNvPr id="9" name="Rounded Rectangle 8"/>
          <p:cNvSpPr/>
          <p:nvPr/>
        </p:nvSpPr>
        <p:spPr>
          <a:xfrm>
            <a:off x="8887968" y="1737360"/>
            <a:ext cx="2468880" cy="4297680"/>
          </a:xfrm>
          <a:prstGeom prst="roundRect">
            <a:avLst/>
          </a:prstGeom>
          <a:solidFill>
            <a:srgbClr val="121E3C"/>
          </a:solidFill>
          <a:ln w="15240">
            <a:solidFill>
              <a:srgbClr val="B48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0" y="1920240"/>
            <a:ext cx="2139696" cy="3931920"/>
          </a:xfrm>
          <a:prstGeom prst="rect">
            <a:avLst/>
          </a:prstGeom>
          <a:noFill/>
        </p:spPr>
        <p:txBody>
          <a:bodyPr wrap="square" lIns="0" tIns="0">
            <a:spAutoFit/>
          </a:bodyPr>
          <a:lstStyle/>
          <a:p>
            <a:pPr>
              <a:spcAft>
                <a:spcPts val="1400"/>
              </a:spcAft>
              <a:defRPr sz="1700" b="1">
                <a:solidFill>
                  <a:srgbClr val="B488FF"/>
                </a:solidFill>
                <a:latin typeface="Calibri"/>
              </a:defRPr>
            </a:pPr>
            <a:r>
              <a:t>Volume &amp; Regime Filters</a:t>
            </a:r>
          </a:p>
          <a:p>
            <a:pPr>
              <a:spcAft>
                <a:spcPts val="800"/>
              </a:spcAft>
              <a:defRPr sz="1300">
                <a:solidFill>
                  <a:srgbClr val="A0B2CD"/>
                </a:solidFill>
                <a:latin typeface="Calibri"/>
              </a:defRPr>
            </a:pPr>
            <a:r>
              <a:t>• volume_ratio_20: Current volume / 20-day volume SMA</a:t>
            </a:r>
          </a:p>
          <a:p>
            <a:pPr>
              <a:spcAft>
                <a:spcPts val="800"/>
              </a:spcAft>
              <a:defRPr sz="1300">
                <a:solidFill>
                  <a:srgbClr val="A0B2CD"/>
                </a:solidFill>
                <a:latin typeface="Calibri"/>
              </a:defRPr>
            </a:pPr>
            <a:r>
              <a:t>• obv_slope_10: 10-day slope of On-Balance Volume</a:t>
            </a:r>
          </a:p>
          <a:p>
            <a:pPr>
              <a:spcAft>
                <a:spcPts val="800"/>
              </a:spcAft>
              <a:defRPr sz="1300">
                <a:solidFill>
                  <a:srgbClr val="A0B2CD"/>
                </a:solidFill>
                <a:latin typeface="Calibri"/>
              </a:defRPr>
            </a:pPr>
            <a:r>
              <a:t>• regime_high_vol: Binary regime switch (60-day median)</a:t>
            </a:r>
          </a:p>
          <a:p>
            <a:pPr>
              <a:spcAft>
                <a:spcPts val="800"/>
              </a:spcAft>
              <a:defRPr sz="1300">
                <a:solidFill>
                  <a:srgbClr val="A0B2CD"/>
                </a:solidFill>
                <a:latin typeface="Calibri"/>
              </a:defRPr>
            </a:pPr>
            <a:r>
              <a:t>• Liquidity Validation: Zero-volume trade prohibition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822960" y="502920"/>
            <a:ext cx="10545775" cy="1097280"/>
          </a:xfrm>
          <a:prstGeom prst="rect">
            <a:avLst/>
          </a:prstGeom>
          <a:noFill/>
        </p:spPr>
        <p:txBody>
          <a:bodyPr wrap="square" lIns="0" tIns="0" rIns="0" bIns="0">
            <a:spAutoFit/>
          </a:bodyPr>
          <a:lstStyle/>
          <a:p>
            <a:pPr>
              <a:spcAft>
                <a:spcPts val="400"/>
              </a:spcAft>
              <a:defRPr sz="1200" b="1">
                <a:solidFill>
                  <a:srgbClr val="00E5FF"/>
                </a:solidFill>
                <a:latin typeface="Calibri"/>
              </a:defRPr>
            </a:pPr>
            <a:r>
              <a:t>GENETIC DECISION ENGINE (NSGA-II)</a:t>
            </a:r>
          </a:p>
          <a:p>
            <a:pPr>
              <a:defRPr sz="3200" b="1">
                <a:solidFill>
                  <a:srgbClr val="F5F7FA"/>
                </a:solidFill>
                <a:latin typeface="Calibri"/>
              </a:defRPr>
            </a:pPr>
            <a:r>
              <a:t>Multi-Objective Evolutionary Search: The 7-Gene Chromosome</a:t>
            </a:r>
          </a:p>
        </p:txBody>
      </p:sp>
      <p:graphicFrame>
        <p:nvGraphicFramePr>
          <p:cNvPr id="3" name="Table 2"/>
          <p:cNvGraphicFramePr>
            <a:graphicFrameLocks noGrp="1"/>
          </p:cNvGraphicFramePr>
          <p:nvPr/>
        </p:nvGraphicFramePr>
        <p:xfrm>
          <a:off x="822960" y="1737360"/>
          <a:ext cx="6217920" cy="4297680"/>
        </p:xfrm>
        <a:graphic>
          <a:graphicData uri="http://schemas.openxmlformats.org/drawingml/2006/table">
            <a:tbl>
              <a:tblPr firstRow="1" bandRow="1">
                <a:tableStyleId>{5C22544A-7EE6-4342-B048-85BDC9FD1C3A}</a:tableStyleId>
              </a:tblPr>
              <a:tblGrid>
                <a:gridCol w="2011680"/>
                <a:gridCol w="1280160"/>
                <a:gridCol w="2926080"/>
              </a:tblGrid>
              <a:tr h="537210">
                <a:tc>
                  <a:txBody>
                    <a:bodyPr/>
                    <a:lstStyle/>
                    <a:p>
                      <a:pPr>
                        <a:defRPr sz="1400" b="1">
                          <a:solidFill>
                            <a:srgbClr val="00E5FF"/>
                          </a:solidFill>
                          <a:latin typeface="Calibri"/>
                        </a:defRPr>
                      </a:pPr>
                      <a:r>
                        <a:t>Gene Parameter</a:t>
                      </a:r>
                    </a:p>
                  </a:txBody>
                  <a:tcPr>
                    <a:solidFill>
                      <a:srgbClr val="121E3C"/>
                    </a:solidFill>
                  </a:tcPr>
                </a:tc>
                <a:tc>
                  <a:txBody>
                    <a:bodyPr/>
                    <a:lstStyle/>
                    <a:p>
                      <a:pPr>
                        <a:defRPr sz="1400" b="1">
                          <a:solidFill>
                            <a:srgbClr val="00E5FF"/>
                          </a:solidFill>
                          <a:latin typeface="Calibri"/>
                        </a:defRPr>
                      </a:pPr>
                      <a:r>
                        <a:t>Range</a:t>
                      </a:r>
                    </a:p>
                  </a:txBody>
                  <a:tcPr>
                    <a:solidFill>
                      <a:srgbClr val="121E3C"/>
                    </a:solidFill>
                  </a:tcPr>
                </a:tc>
                <a:tc>
                  <a:txBody>
                    <a:bodyPr/>
                    <a:lstStyle/>
                    <a:p>
                      <a:pPr>
                        <a:defRPr sz="1400" b="1">
                          <a:solidFill>
                            <a:srgbClr val="00E5FF"/>
                          </a:solidFill>
                          <a:latin typeface="Calibri"/>
                        </a:defRPr>
                      </a:pPr>
                      <a:r>
                        <a:t>Institutional Purpose</a:t>
                      </a:r>
                    </a:p>
                  </a:txBody>
                  <a:tcPr>
                    <a:solidFill>
                      <a:srgbClr val="121E3C"/>
                    </a:solidFill>
                  </a:tcPr>
                </a:tc>
              </a:tr>
              <a:tr h="537210">
                <a:tc>
                  <a:txBody>
                    <a:bodyPr/>
                    <a:lstStyle/>
                    <a:p>
                      <a:pPr>
                        <a:defRPr sz="1300">
                          <a:solidFill>
                            <a:srgbClr val="F5F7FA"/>
                          </a:solidFill>
                          <a:latin typeface="Calibri"/>
                        </a:defRPr>
                      </a:pPr>
                      <a:r>
                        <a:t>g0: entry_prob_threshold</a:t>
                      </a:r>
                    </a:p>
                  </a:txBody>
                  <a:tcPr>
                    <a:solidFill>
                      <a:srgbClr val="0E1830"/>
                    </a:solidFill>
                  </a:tcPr>
                </a:tc>
                <a:tc>
                  <a:txBody>
                    <a:bodyPr/>
                    <a:lstStyle/>
                    <a:p>
                      <a:pPr>
                        <a:defRPr sz="1300">
                          <a:solidFill>
                            <a:srgbClr val="A0B2CD"/>
                          </a:solidFill>
                          <a:latin typeface="Calibri"/>
                        </a:defRPr>
                      </a:pPr>
                      <a:r>
                        <a:t>[0.50, 0.80]</a:t>
                      </a:r>
                    </a:p>
                  </a:txBody>
                  <a:tcPr>
                    <a:solidFill>
                      <a:srgbClr val="0E1830"/>
                    </a:solidFill>
                  </a:tcPr>
                </a:tc>
                <a:tc>
                  <a:txBody>
                    <a:bodyPr/>
                    <a:lstStyle/>
                    <a:p>
                      <a:pPr>
                        <a:defRPr sz="1300">
                          <a:solidFill>
                            <a:srgbClr val="A0B2CD"/>
                          </a:solidFill>
                          <a:latin typeface="Calibri"/>
                        </a:defRPr>
                      </a:pPr>
                      <a:r>
                        <a:t>Min ML probability required to buy</a:t>
                      </a:r>
                    </a:p>
                  </a:txBody>
                  <a:tcPr>
                    <a:solidFill>
                      <a:srgbClr val="0E1830"/>
                    </a:solidFill>
                  </a:tcPr>
                </a:tc>
              </a:tr>
              <a:tr h="537210">
                <a:tc>
                  <a:txBody>
                    <a:bodyPr/>
                    <a:lstStyle/>
                    <a:p>
                      <a:pPr>
                        <a:defRPr sz="1300">
                          <a:solidFill>
                            <a:srgbClr val="F5F7FA"/>
                          </a:solidFill>
                          <a:latin typeface="Calibri"/>
                        </a:defRPr>
                      </a:pPr>
                      <a:r>
                        <a:t>g1: exit_prob_threshold</a:t>
                      </a:r>
                    </a:p>
                  </a:txBody>
                  <a:tcPr>
                    <a:solidFill>
                      <a:srgbClr val="0E1830"/>
                    </a:solidFill>
                  </a:tcPr>
                </a:tc>
                <a:tc>
                  <a:txBody>
                    <a:bodyPr/>
                    <a:lstStyle/>
                    <a:p>
                      <a:pPr>
                        <a:defRPr sz="1300">
                          <a:solidFill>
                            <a:srgbClr val="A0B2CD"/>
                          </a:solidFill>
                          <a:latin typeface="Calibri"/>
                        </a:defRPr>
                      </a:pPr>
                      <a:r>
                        <a:t>[0.20, 0.50]</a:t>
                      </a:r>
                    </a:p>
                  </a:txBody>
                  <a:tcPr>
                    <a:solidFill>
                      <a:srgbClr val="0E1830"/>
                    </a:solidFill>
                  </a:tcPr>
                </a:tc>
                <a:tc>
                  <a:txBody>
                    <a:bodyPr/>
                    <a:lstStyle/>
                    <a:p>
                      <a:pPr>
                        <a:defRPr sz="1300">
                          <a:solidFill>
                            <a:srgbClr val="A0B2CD"/>
                          </a:solidFill>
                          <a:latin typeface="Calibri"/>
                        </a:defRPr>
                      </a:pPr>
                      <a:r>
                        <a:t>Probability floor triggering early exit</a:t>
                      </a:r>
                    </a:p>
                  </a:txBody>
                  <a:tcPr>
                    <a:solidFill>
                      <a:srgbClr val="0E1830"/>
                    </a:solidFill>
                  </a:tcPr>
                </a:tc>
              </a:tr>
              <a:tr h="537210">
                <a:tc>
                  <a:txBody>
                    <a:bodyPr/>
                    <a:lstStyle/>
                    <a:p>
                      <a:pPr>
                        <a:defRPr sz="1300">
                          <a:solidFill>
                            <a:srgbClr val="F5F7FA"/>
                          </a:solidFill>
                          <a:latin typeface="Calibri"/>
                        </a:defRPr>
                      </a:pPr>
                      <a:r>
                        <a:t>g2: atr_stop_loss_mult</a:t>
                      </a:r>
                    </a:p>
                  </a:txBody>
                  <a:tcPr>
                    <a:solidFill>
                      <a:srgbClr val="0E1830"/>
                    </a:solidFill>
                  </a:tcPr>
                </a:tc>
                <a:tc>
                  <a:txBody>
                    <a:bodyPr/>
                    <a:lstStyle/>
                    <a:p>
                      <a:pPr>
                        <a:defRPr sz="1300">
                          <a:solidFill>
                            <a:srgbClr val="A0B2CD"/>
                          </a:solidFill>
                          <a:latin typeface="Calibri"/>
                        </a:defRPr>
                      </a:pPr>
                      <a:r>
                        <a:t>[1.0, 4.0]</a:t>
                      </a:r>
                    </a:p>
                  </a:txBody>
                  <a:tcPr>
                    <a:solidFill>
                      <a:srgbClr val="0E1830"/>
                    </a:solidFill>
                  </a:tcPr>
                </a:tc>
                <a:tc>
                  <a:txBody>
                    <a:bodyPr/>
                    <a:lstStyle/>
                    <a:p>
                      <a:pPr>
                        <a:defRPr sz="1300">
                          <a:solidFill>
                            <a:srgbClr val="A0B2CD"/>
                          </a:solidFill>
                          <a:latin typeface="Calibri"/>
                        </a:defRPr>
                      </a:pPr>
                      <a:r>
                        <a:t>Volatility-adaptive stop loss multiplier</a:t>
                      </a:r>
                    </a:p>
                  </a:txBody>
                  <a:tcPr>
                    <a:solidFill>
                      <a:srgbClr val="0E1830"/>
                    </a:solidFill>
                  </a:tcPr>
                </a:tc>
              </a:tr>
              <a:tr h="537210">
                <a:tc>
                  <a:txBody>
                    <a:bodyPr/>
                    <a:lstStyle/>
                    <a:p>
                      <a:pPr>
                        <a:defRPr sz="1300">
                          <a:solidFill>
                            <a:srgbClr val="F5F7FA"/>
                          </a:solidFill>
                          <a:latin typeface="Calibri"/>
                        </a:defRPr>
                      </a:pPr>
                      <a:r>
                        <a:t>g3: atr_take_profit_mult</a:t>
                      </a:r>
                    </a:p>
                  </a:txBody>
                  <a:tcPr>
                    <a:solidFill>
                      <a:srgbClr val="0E1830"/>
                    </a:solidFill>
                  </a:tcPr>
                </a:tc>
                <a:tc>
                  <a:txBody>
                    <a:bodyPr/>
                    <a:lstStyle/>
                    <a:p>
                      <a:pPr>
                        <a:defRPr sz="1300">
                          <a:solidFill>
                            <a:srgbClr val="A0B2CD"/>
                          </a:solidFill>
                          <a:latin typeface="Calibri"/>
                        </a:defRPr>
                      </a:pPr>
                      <a:r>
                        <a:t>[2.0, 8.0]</a:t>
                      </a:r>
                    </a:p>
                  </a:txBody>
                  <a:tcPr>
                    <a:solidFill>
                      <a:srgbClr val="0E1830"/>
                    </a:solidFill>
                  </a:tcPr>
                </a:tc>
                <a:tc>
                  <a:txBody>
                    <a:bodyPr/>
                    <a:lstStyle/>
                    <a:p>
                      <a:pPr>
                        <a:defRPr sz="1300">
                          <a:solidFill>
                            <a:srgbClr val="A0B2CD"/>
                          </a:solidFill>
                          <a:latin typeface="Calibri"/>
                        </a:defRPr>
                      </a:pPr>
                      <a:r>
                        <a:t>Reward-to-risk profit target barrier</a:t>
                      </a:r>
                    </a:p>
                  </a:txBody>
                  <a:tcPr>
                    <a:solidFill>
                      <a:srgbClr val="0E1830"/>
                    </a:solidFill>
                  </a:tcPr>
                </a:tc>
              </a:tr>
              <a:tr h="537210">
                <a:tc>
                  <a:txBody>
                    <a:bodyPr/>
                    <a:lstStyle/>
                    <a:p>
                      <a:pPr>
                        <a:defRPr sz="1300">
                          <a:solidFill>
                            <a:srgbClr val="F5F7FA"/>
                          </a:solidFill>
                          <a:latin typeface="Calibri"/>
                        </a:defRPr>
                      </a:pPr>
                      <a:r>
                        <a:t>g4: trailing_stop_pct</a:t>
                      </a:r>
                    </a:p>
                  </a:txBody>
                  <a:tcPr>
                    <a:solidFill>
                      <a:srgbClr val="0E1830"/>
                    </a:solidFill>
                  </a:tcPr>
                </a:tc>
                <a:tc>
                  <a:txBody>
                    <a:bodyPr/>
                    <a:lstStyle/>
                    <a:p>
                      <a:pPr>
                        <a:defRPr sz="1300">
                          <a:solidFill>
                            <a:srgbClr val="A0B2CD"/>
                          </a:solidFill>
                          <a:latin typeface="Calibri"/>
                        </a:defRPr>
                      </a:pPr>
                      <a:r>
                        <a:t>[1.0%, 10.0%]</a:t>
                      </a:r>
                    </a:p>
                  </a:txBody>
                  <a:tcPr>
                    <a:solidFill>
                      <a:srgbClr val="0E1830"/>
                    </a:solidFill>
                  </a:tcPr>
                </a:tc>
                <a:tc>
                  <a:txBody>
                    <a:bodyPr/>
                    <a:lstStyle/>
                    <a:p>
                      <a:pPr>
                        <a:defRPr sz="1300">
                          <a:solidFill>
                            <a:srgbClr val="A0B2CD"/>
                          </a:solidFill>
                          <a:latin typeface="Calibri"/>
                        </a:defRPr>
                      </a:pPr>
                      <a:r>
                        <a:t>Peak unrealized gain lock-in threshold</a:t>
                      </a:r>
                    </a:p>
                  </a:txBody>
                  <a:tcPr>
                    <a:solidFill>
                      <a:srgbClr val="0E1830"/>
                    </a:solidFill>
                  </a:tcPr>
                </a:tc>
              </a:tr>
              <a:tr h="537210">
                <a:tc>
                  <a:txBody>
                    <a:bodyPr/>
                    <a:lstStyle/>
                    <a:p>
                      <a:pPr>
                        <a:defRPr sz="1300">
                          <a:solidFill>
                            <a:srgbClr val="F5F7FA"/>
                          </a:solidFill>
                          <a:latin typeface="Calibri"/>
                        </a:defRPr>
                      </a:pPr>
                      <a:r>
                        <a:t>g5: capital_allocation</a:t>
                      </a:r>
                    </a:p>
                  </a:txBody>
                  <a:tcPr>
                    <a:solidFill>
                      <a:srgbClr val="0E1830"/>
                    </a:solidFill>
                  </a:tcPr>
                </a:tc>
                <a:tc>
                  <a:txBody>
                    <a:bodyPr/>
                    <a:lstStyle/>
                    <a:p>
                      <a:pPr>
                        <a:defRPr sz="1300">
                          <a:solidFill>
                            <a:srgbClr val="A0B2CD"/>
                          </a:solidFill>
                          <a:latin typeface="Calibri"/>
                        </a:defRPr>
                      </a:pPr>
                      <a:r>
                        <a:t>[10%, 100%]</a:t>
                      </a:r>
                    </a:p>
                  </a:txBody>
                  <a:tcPr>
                    <a:solidFill>
                      <a:srgbClr val="0E1830"/>
                    </a:solidFill>
                  </a:tcPr>
                </a:tc>
                <a:tc>
                  <a:txBody>
                    <a:bodyPr/>
                    <a:lstStyle/>
                    <a:p>
                      <a:pPr>
                        <a:defRPr sz="1300">
                          <a:solidFill>
                            <a:srgbClr val="A0B2CD"/>
                          </a:solidFill>
                          <a:latin typeface="Calibri"/>
                        </a:defRPr>
                      </a:pPr>
                      <a:r>
                        <a:t>Portfolio equity fraction committed</a:t>
                      </a:r>
                    </a:p>
                  </a:txBody>
                  <a:tcPr>
                    <a:solidFill>
                      <a:srgbClr val="0E1830"/>
                    </a:solidFill>
                  </a:tcPr>
                </a:tc>
              </a:tr>
              <a:tr h="537210">
                <a:tc>
                  <a:txBody>
                    <a:bodyPr/>
                    <a:lstStyle/>
                    <a:p>
                      <a:pPr>
                        <a:defRPr sz="1300">
                          <a:solidFill>
                            <a:srgbClr val="F5F7FA"/>
                          </a:solidFill>
                          <a:latin typeface="Calibri"/>
                        </a:defRPr>
                      </a:pPr>
                      <a:r>
                        <a:t>g6: max_holding_period</a:t>
                      </a:r>
                    </a:p>
                  </a:txBody>
                  <a:tcPr>
                    <a:solidFill>
                      <a:srgbClr val="0E1830"/>
                    </a:solidFill>
                  </a:tcPr>
                </a:tc>
                <a:tc>
                  <a:txBody>
                    <a:bodyPr/>
                    <a:lstStyle/>
                    <a:p>
                      <a:pPr>
                        <a:defRPr sz="1300">
                          <a:solidFill>
                            <a:srgbClr val="A0B2CD"/>
                          </a:solidFill>
                          <a:latin typeface="Calibri"/>
                        </a:defRPr>
                      </a:pPr>
                      <a:r>
                        <a:t>[5, 60] bars</a:t>
                      </a:r>
                    </a:p>
                  </a:txBody>
                  <a:tcPr>
                    <a:solidFill>
                      <a:srgbClr val="0E1830"/>
                    </a:solidFill>
                  </a:tcPr>
                </a:tc>
                <a:tc>
                  <a:txBody>
                    <a:bodyPr/>
                    <a:lstStyle/>
                    <a:p>
                      <a:pPr>
                        <a:defRPr sz="1300">
                          <a:solidFill>
                            <a:srgbClr val="A0B2CD"/>
                          </a:solidFill>
                          <a:latin typeface="Calibri"/>
                        </a:defRPr>
                      </a:pPr>
                      <a:r>
                        <a:t>Calendar bar liquidation timeout</a:t>
                      </a:r>
                    </a:p>
                  </a:txBody>
                  <a:tcPr>
                    <a:solidFill>
                      <a:srgbClr val="0E1830"/>
                    </a:solidFill>
                  </a:tcPr>
                </a:tc>
              </a:tr>
            </a:tbl>
          </a:graphicData>
        </a:graphic>
      </p:graphicFrame>
      <p:sp>
        <p:nvSpPr>
          <p:cNvPr id="4" name="Rounded Rectangle 3"/>
          <p:cNvSpPr/>
          <p:nvPr/>
        </p:nvSpPr>
        <p:spPr>
          <a:xfrm>
            <a:off x="7315200" y="1737360"/>
            <a:ext cx="4053535" cy="4297680"/>
          </a:xfrm>
          <a:prstGeom prst="roundRect">
            <a:avLst/>
          </a:prstGeom>
          <a:solidFill>
            <a:srgbClr val="121E3C"/>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89520" y="1920240"/>
            <a:ext cx="3504895" cy="3931920"/>
          </a:xfrm>
          <a:prstGeom prst="rect">
            <a:avLst/>
          </a:prstGeom>
          <a:noFill/>
        </p:spPr>
        <p:txBody>
          <a:bodyPr wrap="square" lIns="0" tIns="0">
            <a:spAutoFit/>
          </a:bodyPr>
          <a:lstStyle/>
          <a:p>
            <a:pPr>
              <a:spcAft>
                <a:spcPts val="1000"/>
              </a:spcAft>
              <a:defRPr sz="1400" b="1">
                <a:solidFill>
                  <a:srgbClr val="00E5FF"/>
                </a:solidFill>
                <a:latin typeface="Calibri"/>
              </a:defRPr>
            </a:pPr>
            <a:r>
              <a:t>PARETO OPTIMIZATION MECHANICS</a:t>
            </a:r>
          </a:p>
          <a:p>
            <a:pPr>
              <a:spcAft>
                <a:spcPts val="1000"/>
              </a:spcAft>
              <a:defRPr sz="1400">
                <a:solidFill>
                  <a:srgbClr val="A0B2CD"/>
                </a:solidFill>
                <a:latin typeface="Calibri"/>
              </a:defRPr>
            </a:pPr>
            <a:r>
              <a:t>• Simulated Binary Crossover (SBX, eta=15) and Polynomial Mutation (eta=20) evolve bounded continuous chromosomes.</a:t>
            </a:r>
          </a:p>
          <a:p>
            <a:pPr>
              <a:spcAft>
                <a:spcPts val="1000"/>
              </a:spcAft>
              <a:defRPr sz="1400">
                <a:solidFill>
                  <a:srgbClr val="A0B2CD"/>
                </a:solidFill>
                <a:latin typeface="Calibri"/>
              </a:defRPr>
            </a:pPr>
            <a:r>
              <a:t>• Crowding Distance sorting ensures broad coverage across both aggressive high-Sharpe and conservative low-drawdown profiles.</a:t>
            </a:r>
          </a:p>
          <a:p>
            <a:pPr>
              <a:spcAft>
                <a:spcPts val="1000"/>
              </a:spcAft>
              <a:defRPr sz="1400">
                <a:solidFill>
                  <a:srgbClr val="A0B2CD"/>
                </a:solidFill>
                <a:latin typeface="Calibri"/>
              </a:defRPr>
            </a:pPr>
            <a:r>
              <a:t>• Selection Governance: Primary candidate is selected on the Development partition (highest Sharpe with &gt;= 3 trades) and strictly FROZEN prior to Out-of-Sample Test evaluation.</a:t>
            </a:r>
          </a:p>
          <a:p>
            <a:pPr>
              <a:spcAft>
                <a:spcPts val="1000"/>
              </a:spcAft>
              <a:defRPr sz="1400">
                <a:solidFill>
                  <a:srgbClr val="A0B2CD"/>
                </a:solidFill>
                <a:latin typeface="Calibri"/>
              </a:defRPr>
            </a:pPr>
            <a:r>
              <a:t>• Eliminates cherry-picking: Test evaluation is single-pass and unalterable.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822960" y="502920"/>
            <a:ext cx="10545775" cy="1097280"/>
          </a:xfrm>
          <a:prstGeom prst="rect">
            <a:avLst/>
          </a:prstGeom>
          <a:noFill/>
        </p:spPr>
        <p:txBody>
          <a:bodyPr wrap="square" lIns="0" tIns="0" rIns="0" bIns="0">
            <a:spAutoFit/>
          </a:bodyPr>
          <a:lstStyle/>
          <a:p>
            <a:pPr>
              <a:spcAft>
                <a:spcPts val="400"/>
              </a:spcAft>
              <a:defRPr sz="1200" b="1">
                <a:solidFill>
                  <a:srgbClr val="00E5FF"/>
                </a:solidFill>
                <a:latin typeface="Calibri"/>
              </a:defRPr>
            </a:pPr>
            <a:r>
              <a:t>EXECUTION MECHANICS</a:t>
            </a:r>
          </a:p>
          <a:p>
            <a:pPr>
              <a:defRPr sz="3200" b="1">
                <a:solidFill>
                  <a:srgbClr val="F5F7FA"/>
                </a:solidFill>
                <a:latin typeface="Calibri"/>
              </a:defRPr>
            </a:pPr>
            <a:r>
              <a:t>Institutional Realism: Eliminating Frictions &amp; Lookahead Bias</a:t>
            </a:r>
          </a:p>
        </p:txBody>
      </p:sp>
      <p:sp>
        <p:nvSpPr>
          <p:cNvPr id="3" name="Rounded Rectangle 2"/>
          <p:cNvSpPr/>
          <p:nvPr/>
        </p:nvSpPr>
        <p:spPr>
          <a:xfrm>
            <a:off x="822960" y="1737360"/>
            <a:ext cx="5120640" cy="1965960"/>
          </a:xfrm>
          <a:prstGeom prst="roundRect">
            <a:avLst/>
          </a:prstGeom>
          <a:solidFill>
            <a:srgbClr val="121E3C"/>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920240"/>
            <a:ext cx="4663440" cy="1600200"/>
          </a:xfrm>
          <a:prstGeom prst="rect">
            <a:avLst/>
          </a:prstGeom>
          <a:noFill/>
        </p:spPr>
        <p:txBody>
          <a:bodyPr wrap="square" lIns="0" tIns="0">
            <a:spAutoFit/>
          </a:bodyPr>
          <a:lstStyle/>
          <a:p>
            <a:pPr>
              <a:spcAft>
                <a:spcPts val="600"/>
              </a:spcAft>
              <a:defRPr sz="2000" b="1">
                <a:solidFill>
                  <a:srgbClr val="00E5FF"/>
                </a:solidFill>
                <a:latin typeface="Calibri"/>
              </a:defRPr>
            </a:pPr>
            <a:r>
              <a:t>Next-Bar Open Execution</a:t>
            </a:r>
          </a:p>
          <a:p>
            <a:pPr>
              <a:defRPr sz="1400">
                <a:solidFill>
                  <a:srgbClr val="A0B2CD"/>
                </a:solidFill>
                <a:latin typeface="Calibri"/>
              </a:defRPr>
            </a:pPr>
            <a:r>
              <a:t>Signals calculated at bar t-1 Close are executed strictly at bar t Open. Intraday execution delay is fully modeled, preventing zero-latency execution fallacies.</a:t>
            </a:r>
          </a:p>
        </p:txBody>
      </p:sp>
      <p:sp>
        <p:nvSpPr>
          <p:cNvPr id="5" name="Rounded Rectangle 4"/>
          <p:cNvSpPr/>
          <p:nvPr/>
        </p:nvSpPr>
        <p:spPr>
          <a:xfrm>
            <a:off x="6217920" y="1737360"/>
            <a:ext cx="5120640" cy="1965960"/>
          </a:xfrm>
          <a:prstGeom prst="roundRect">
            <a:avLst/>
          </a:prstGeom>
          <a:solidFill>
            <a:srgbClr val="121E3C"/>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1920240"/>
            <a:ext cx="4663440" cy="1600200"/>
          </a:xfrm>
          <a:prstGeom prst="rect">
            <a:avLst/>
          </a:prstGeom>
          <a:noFill/>
        </p:spPr>
        <p:txBody>
          <a:bodyPr wrap="square" lIns="0" tIns="0">
            <a:spAutoFit/>
          </a:bodyPr>
          <a:lstStyle/>
          <a:p>
            <a:pPr>
              <a:spcAft>
                <a:spcPts val="600"/>
              </a:spcAft>
              <a:defRPr sz="2000" b="1">
                <a:solidFill>
                  <a:srgbClr val="FF9100"/>
                </a:solidFill>
                <a:latin typeface="Calibri"/>
              </a:defRPr>
            </a:pPr>
            <a:r>
              <a:t>20 bps Friction Drag</a:t>
            </a:r>
          </a:p>
          <a:p>
            <a:pPr>
              <a:defRPr sz="1400">
                <a:solidFill>
                  <a:srgbClr val="A0B2CD"/>
                </a:solidFill>
                <a:latin typeface="Calibri"/>
              </a:defRPr>
            </a:pPr>
            <a:r>
              <a:t>Every trade incurs 10 bps broker commission and 10 bps adverse slippage (20 bps round-trip). High-frequency over-trading is systematically penalized.</a:t>
            </a:r>
          </a:p>
        </p:txBody>
      </p:sp>
      <p:sp>
        <p:nvSpPr>
          <p:cNvPr id="7" name="Rounded Rectangle 6"/>
          <p:cNvSpPr/>
          <p:nvPr/>
        </p:nvSpPr>
        <p:spPr>
          <a:xfrm>
            <a:off x="822960" y="3931920"/>
            <a:ext cx="5120640" cy="1965960"/>
          </a:xfrm>
          <a:prstGeom prst="roundRect">
            <a:avLst/>
          </a:prstGeom>
          <a:solidFill>
            <a:srgbClr val="121E3C"/>
          </a:solidFill>
          <a:ln w="15240">
            <a:solidFill>
              <a:srgbClr val="FF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114800"/>
            <a:ext cx="4663440" cy="1600200"/>
          </a:xfrm>
          <a:prstGeom prst="rect">
            <a:avLst/>
          </a:prstGeom>
          <a:noFill/>
        </p:spPr>
        <p:txBody>
          <a:bodyPr wrap="square" lIns="0" tIns="0">
            <a:spAutoFit/>
          </a:bodyPr>
          <a:lstStyle/>
          <a:p>
            <a:pPr>
              <a:spcAft>
                <a:spcPts val="600"/>
              </a:spcAft>
              <a:defRPr sz="2000" b="1">
                <a:solidFill>
                  <a:srgbClr val="FF5252"/>
                </a:solidFill>
                <a:latin typeface="Calibri"/>
              </a:defRPr>
            </a:pPr>
            <a:r>
              <a:t>Intrabar Conflict Priority</a:t>
            </a:r>
          </a:p>
          <a:p>
            <a:pPr>
              <a:defRPr sz="1400">
                <a:solidFill>
                  <a:srgbClr val="A0B2CD"/>
                </a:solidFill>
                <a:latin typeface="Calibri"/>
              </a:defRPr>
            </a:pPr>
            <a:r>
              <a:t>If bar t Low breaches the stop-loss while High breaches the profit target, the simulator conservatively assumes the stop loss hit first, preventing optimistic fill bias.</a:t>
            </a:r>
          </a:p>
        </p:txBody>
      </p:sp>
      <p:sp>
        <p:nvSpPr>
          <p:cNvPr id="9" name="Rounded Rectangle 8"/>
          <p:cNvSpPr/>
          <p:nvPr/>
        </p:nvSpPr>
        <p:spPr>
          <a:xfrm>
            <a:off x="6217920" y="3931920"/>
            <a:ext cx="5120640" cy="1965960"/>
          </a:xfrm>
          <a:prstGeom prst="roundRect">
            <a:avLst/>
          </a:prstGeom>
          <a:solidFill>
            <a:srgbClr val="121E3C"/>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4114800"/>
            <a:ext cx="4663440" cy="1600200"/>
          </a:xfrm>
          <a:prstGeom prst="rect">
            <a:avLst/>
          </a:prstGeom>
          <a:noFill/>
        </p:spPr>
        <p:txBody>
          <a:bodyPr wrap="square" lIns="0" tIns="0">
            <a:spAutoFit/>
          </a:bodyPr>
          <a:lstStyle/>
          <a:p>
            <a:pPr>
              <a:spcAft>
                <a:spcPts val="600"/>
              </a:spcAft>
              <a:defRPr sz="2000" b="1">
                <a:solidFill>
                  <a:srgbClr val="00E676"/>
                </a:solidFill>
                <a:latin typeface="Calibri"/>
              </a:defRPr>
            </a:pPr>
            <a:r>
              <a:t>4-Way Chronological Purging</a:t>
            </a:r>
          </a:p>
          <a:p>
            <a:pPr>
              <a:defRPr sz="1400">
                <a:solidFill>
                  <a:srgbClr val="A0B2CD"/>
                </a:solidFill>
                <a:latin typeface="Calibri"/>
              </a:defRPr>
            </a:pPr>
            <a:r>
              <a:t>Data is split into Train (~50%), Validation (~15%), Development (~15%), and Test (~20%) with 3-bar purged buffers between partitions to prevent label overlap.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822960" y="502920"/>
            <a:ext cx="10545775" cy="1097280"/>
          </a:xfrm>
          <a:prstGeom prst="rect">
            <a:avLst/>
          </a:prstGeom>
          <a:noFill/>
        </p:spPr>
        <p:txBody>
          <a:bodyPr wrap="square" lIns="0" tIns="0" rIns="0" bIns="0">
            <a:spAutoFit/>
          </a:bodyPr>
          <a:lstStyle/>
          <a:p>
            <a:pPr>
              <a:spcAft>
                <a:spcPts val="400"/>
              </a:spcAft>
              <a:defRPr sz="1200" b="1">
                <a:solidFill>
                  <a:srgbClr val="00E5FF"/>
                </a:solidFill>
                <a:latin typeface="Calibri"/>
              </a:defRPr>
            </a:pPr>
            <a:r>
              <a:t>EMPIRICAL FINDINGS (2020–2025)</a:t>
            </a:r>
          </a:p>
          <a:p>
            <a:pPr>
              <a:defRPr sz="3200" b="1">
                <a:solidFill>
                  <a:srgbClr val="F5F7FA"/>
                </a:solidFill>
                <a:latin typeface="Calibri"/>
              </a:defRPr>
            </a:pPr>
            <a:r>
              <a:t>6-Year Retrospective Campaign: Capital Preservation Over Beta</a:t>
            </a:r>
          </a:p>
        </p:txBody>
      </p:sp>
      <p:pic>
        <p:nvPicPr>
          <p:cNvPr id="3" name="Picture 2" descr="stitched_equity_curves.png"/>
          <p:cNvPicPr>
            <a:picLocks noChangeAspect="1"/>
          </p:cNvPicPr>
          <p:nvPr/>
        </p:nvPicPr>
        <p:blipFill>
          <a:blip r:embed="rId2"/>
          <a:stretch>
            <a:fillRect/>
          </a:stretch>
        </p:blipFill>
        <p:spPr>
          <a:xfrm>
            <a:off x="822960" y="1645920"/>
            <a:ext cx="5943600" cy="4572000"/>
          </a:xfrm>
          <a:prstGeom prst="rect">
            <a:avLst/>
          </a:prstGeom>
        </p:spPr>
      </p:pic>
      <p:sp>
        <p:nvSpPr>
          <p:cNvPr id="4" name="Rounded Rectangle 3"/>
          <p:cNvSpPr/>
          <p:nvPr/>
        </p:nvSpPr>
        <p:spPr>
          <a:xfrm>
            <a:off x="7040880" y="1645920"/>
            <a:ext cx="4327855" cy="4572000"/>
          </a:xfrm>
          <a:prstGeom prst="roundRect">
            <a:avLst/>
          </a:prstGeom>
          <a:solidFill>
            <a:srgbClr val="121E3C"/>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1828800"/>
            <a:ext cx="3779215" cy="4206240"/>
          </a:xfrm>
          <a:prstGeom prst="rect">
            <a:avLst/>
          </a:prstGeom>
          <a:noFill/>
        </p:spPr>
        <p:txBody>
          <a:bodyPr wrap="square" lIns="0" tIns="0">
            <a:spAutoFit/>
          </a:bodyPr>
          <a:lstStyle/>
          <a:p>
            <a:pPr>
              <a:spcAft>
                <a:spcPts val="1200"/>
              </a:spcAft>
              <a:defRPr sz="1500" b="1">
                <a:solidFill>
                  <a:srgbClr val="00E676"/>
                </a:solidFill>
                <a:latin typeface="Calibri"/>
              </a:defRPr>
            </a:pPr>
            <a:r>
              <a:t>EMPIRICAL PERFORMANCE SUMMARY</a:t>
            </a:r>
          </a:p>
          <a:p>
            <a:pPr>
              <a:spcAft>
                <a:spcPts val="800"/>
              </a:spcAft>
            </a:pPr>
            <a:r>
              <a:rPr b="1" sz="1400">
                <a:solidFill>
                  <a:srgbClr val="F5F7FA"/>
                </a:solidFill>
              </a:rPr>
              <a:t>• The Return Reality:</a:t>
            </a:r>
            <a:r>
              <a:rPr sz="1300">
                <a:solidFill>
                  <a:srgbClr val="A0B2CD"/>
                </a:solidFill>
              </a:rPr>
              <a:t> Passive Buy &amp; Hold generated higher raw returns (Reliance +128.7%, TCS +65.1%, Infosys +152.8%) due to a multi-year secular bull market.</a:t>
            </a:r>
          </a:p>
          <a:p>
            <a:pPr>
              <a:spcAft>
                <a:spcPts val="800"/>
              </a:spcAft>
            </a:pPr>
            <a:r>
              <a:rPr b="1" sz="1400">
                <a:solidFill>
                  <a:srgbClr val="F5F7FA"/>
                </a:solidFill>
              </a:rPr>
              <a:t>• The Drawdown Victory:</a:t>
            </a:r>
            <a:r>
              <a:rPr sz="1300">
                <a:solidFill>
                  <a:srgbClr val="A0B2CD"/>
                </a:solidFill>
              </a:rPr>
              <a:t> Hybrid strategies demonstrated superior capital preservation, slashing maximum drawdown in 17 out of 18 annual test comparisons.</a:t>
            </a:r>
          </a:p>
          <a:p>
            <a:pPr>
              <a:spcAft>
                <a:spcPts val="800"/>
              </a:spcAft>
            </a:pPr>
            <a:r>
              <a:rPr b="1" sz="1400">
                <a:solidFill>
                  <a:srgbClr val="F5F7FA"/>
                </a:solidFill>
              </a:rPr>
              <a:t>• Downside Decoupling:</a:t>
            </a:r>
            <a:r>
              <a:rPr sz="1300">
                <a:solidFill>
                  <a:srgbClr val="A0B2CD"/>
                </a:solidFill>
              </a:rPr>
              <a:t> During major equity downturns (2020 COVID shock and 2022 tech sector corrections), the system automatically rotated to cash.</a:t>
            </a:r>
          </a:p>
          <a:p>
            <a:pPr>
              <a:spcAft>
                <a:spcPts val="800"/>
              </a:spcAft>
            </a:pPr>
            <a:r>
              <a:rPr b="1" sz="1400">
                <a:solidFill>
                  <a:srgbClr val="F5F7FA"/>
                </a:solidFill>
              </a:rPr>
              <a:t>• Risk-Adjusted Alpha:</a:t>
            </a:r>
            <a:r>
              <a:rPr sz="1300">
                <a:solidFill>
                  <a:srgbClr val="A0B2CD"/>
                </a:solidFill>
              </a:rPr>
              <a:t> Lower portfolio volatility and controlled exposure provide institutions with asymmetric downside protection without naked market risk.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822960" y="502920"/>
            <a:ext cx="10545775" cy="1097280"/>
          </a:xfrm>
          <a:prstGeom prst="rect">
            <a:avLst/>
          </a:prstGeom>
          <a:noFill/>
        </p:spPr>
        <p:txBody>
          <a:bodyPr wrap="square" lIns="0" tIns="0" rIns="0" bIns="0">
            <a:spAutoFit/>
          </a:bodyPr>
          <a:lstStyle/>
          <a:p>
            <a:pPr>
              <a:spcAft>
                <a:spcPts val="400"/>
              </a:spcAft>
              <a:defRPr sz="1200" b="1">
                <a:solidFill>
                  <a:srgbClr val="00E5FF"/>
                </a:solidFill>
                <a:latin typeface="Calibri"/>
              </a:defRPr>
            </a:pPr>
            <a:r>
              <a:t>RISK ANALYTICS &amp; ROBUSTNESS</a:t>
            </a:r>
          </a:p>
          <a:p>
            <a:pPr>
              <a:defRPr sz="3200" b="1">
                <a:solidFill>
                  <a:srgbClr val="F5F7FA"/>
                </a:solidFill>
                <a:latin typeface="Calibri"/>
              </a:defRPr>
            </a:pPr>
            <a:r>
              <a:t>Drawdown Profiles &amp; Seed Invariance: Proof of Resilience</a:t>
            </a:r>
          </a:p>
        </p:txBody>
      </p:sp>
      <p:pic>
        <p:nvPicPr>
          <p:cNvPr id="3" name="Picture 2" descr="underwater_drawdowns.png"/>
          <p:cNvPicPr>
            <a:picLocks noChangeAspect="1"/>
          </p:cNvPicPr>
          <p:nvPr/>
        </p:nvPicPr>
        <p:blipFill>
          <a:blip r:embed="rId2"/>
          <a:stretch>
            <a:fillRect/>
          </a:stretch>
        </p:blipFill>
        <p:spPr>
          <a:xfrm>
            <a:off x="822960" y="1645920"/>
            <a:ext cx="5943600" cy="4572000"/>
          </a:xfrm>
          <a:prstGeom prst="rect">
            <a:avLst/>
          </a:prstGeom>
        </p:spPr>
      </p:pic>
      <p:sp>
        <p:nvSpPr>
          <p:cNvPr id="4" name="Rounded Rectangle 3"/>
          <p:cNvSpPr/>
          <p:nvPr/>
        </p:nvSpPr>
        <p:spPr>
          <a:xfrm>
            <a:off x="7040880" y="1645920"/>
            <a:ext cx="4327855" cy="4572000"/>
          </a:xfrm>
          <a:prstGeom prst="roundRect">
            <a:avLst/>
          </a:prstGeom>
          <a:solidFill>
            <a:srgbClr val="121E3C"/>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1828800"/>
            <a:ext cx="3779215" cy="4206240"/>
          </a:xfrm>
          <a:prstGeom prst="rect">
            <a:avLst/>
          </a:prstGeom>
          <a:noFill/>
        </p:spPr>
        <p:txBody>
          <a:bodyPr wrap="square" lIns="0" tIns="0">
            <a:spAutoFit/>
          </a:bodyPr>
          <a:lstStyle/>
          <a:p>
            <a:pPr>
              <a:spcAft>
                <a:spcPts val="1200"/>
              </a:spcAft>
              <a:defRPr sz="1500" b="1">
                <a:solidFill>
                  <a:srgbClr val="00E5FF"/>
                </a:solidFill>
                <a:latin typeface="Calibri"/>
              </a:defRPr>
            </a:pPr>
            <a:r>
              <a:t>STATISTICAL STABILITY EVIDENCE</a:t>
            </a:r>
          </a:p>
          <a:p>
            <a:pPr>
              <a:spcAft>
                <a:spcPts val="800"/>
              </a:spcAft>
            </a:pPr>
            <a:r>
              <a:rPr b="1" sz="1400">
                <a:solidFill>
                  <a:srgbClr val="F5F7FA"/>
                </a:solidFill>
              </a:rPr>
              <a:t>• Underwater Drawdown Profiles:</a:t>
            </a:r>
            <a:r>
              <a:rPr sz="1300">
                <a:solidFill>
                  <a:srgbClr val="A0B2CD"/>
                </a:solidFill>
              </a:rPr>
              <a:t> As shown in the chart, buy-and-hold suffered devastating drawdowns exceeding 30% to 44%. The hybrid curve remained flat and protected during crises.</a:t>
            </a:r>
          </a:p>
          <a:p>
            <a:pPr>
              <a:spcAft>
                <a:spcPts val="800"/>
              </a:spcAft>
            </a:pPr>
            <a:r>
              <a:rPr b="1" sz="1400">
                <a:solidFill>
                  <a:srgbClr val="F5F7FA"/>
                </a:solidFill>
              </a:rPr>
              <a:t>• 54 Independent Runs:</a:t>
            </a:r>
            <a:r>
              <a:rPr sz="1300">
                <a:solidFill>
                  <a:srgbClr val="A0B2CD"/>
                </a:solidFill>
              </a:rPr>
              <a:t> Evaluated across 3 distinct random seeds (42, 43, 44) over 18 folds. Verified that performance is structural, not a random seed anomaly.</a:t>
            </a:r>
          </a:p>
          <a:p>
            <a:pPr>
              <a:spcAft>
                <a:spcPts val="800"/>
              </a:spcAft>
            </a:pPr>
            <a:r>
              <a:rPr b="1" sz="1400">
                <a:solidFill>
                  <a:srgbClr val="F5F7FA"/>
                </a:solidFill>
              </a:rPr>
              <a:t>• Ablation Benchmark:</a:t>
            </a:r>
            <a:r>
              <a:rPr sz="1300">
                <a:solidFill>
                  <a:srgbClr val="A0B2CD"/>
                </a:solidFill>
              </a:rPr>
              <a:t> Ablation tests without ML directional probabilities show higher turnover and severe cost degradation, proving LightGBM's filtering value.</a:t>
            </a:r>
          </a:p>
          <a:p>
            <a:pPr>
              <a:spcAft>
                <a:spcPts val="800"/>
              </a:spcAft>
            </a:pPr>
            <a:r>
              <a:rPr b="1" sz="1400">
                <a:solidFill>
                  <a:srgbClr val="F5F7FA"/>
                </a:solidFill>
              </a:rPr>
              <a:t>• Cost Sensitivity (2x Friction):</a:t>
            </a:r>
            <a:r>
              <a:rPr sz="1300">
                <a:solidFill>
                  <a:srgbClr val="A0B2CD"/>
                </a:solidFill>
              </a:rPr>
              <a:t> Tested under aggressive 40 bps round-trip drag; strategy maintains positive Sharpe ratios, proving institutional execution viability.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822960" y="502920"/>
            <a:ext cx="10545775" cy="1097280"/>
          </a:xfrm>
          <a:prstGeom prst="rect">
            <a:avLst/>
          </a:prstGeom>
          <a:noFill/>
        </p:spPr>
        <p:txBody>
          <a:bodyPr wrap="square" lIns="0" tIns="0" rIns="0" bIns="0">
            <a:spAutoFit/>
          </a:bodyPr>
          <a:lstStyle/>
          <a:p>
            <a:pPr>
              <a:spcAft>
                <a:spcPts val="400"/>
              </a:spcAft>
              <a:defRPr sz="1200" b="1">
                <a:solidFill>
                  <a:srgbClr val="00E5FF"/>
                </a:solidFill>
                <a:latin typeface="Calibri"/>
              </a:defRPr>
            </a:pPr>
            <a:r>
              <a:t>PRODUCT DEMONSTRATION &amp; TOOLING</a:t>
            </a:r>
          </a:p>
          <a:p>
            <a:pPr>
              <a:defRPr sz="3200" b="1">
                <a:solidFill>
                  <a:srgbClr val="F5F7FA"/>
                </a:solidFill>
                <a:latin typeface="Calibri"/>
              </a:defRPr>
            </a:pPr>
            <a:r>
              <a:t>Evolutionary Market Lab: Interactive Quant Cockpit</a:t>
            </a:r>
          </a:p>
        </p:txBody>
      </p:sp>
      <p:pic>
        <p:nvPicPr>
          <p:cNvPr id="3" name="Picture 2" descr="strategy_explorer_final.png"/>
          <p:cNvPicPr>
            <a:picLocks noChangeAspect="1"/>
          </p:cNvPicPr>
          <p:nvPr/>
        </p:nvPicPr>
        <p:blipFill>
          <a:blip r:embed="rId2"/>
          <a:stretch>
            <a:fillRect/>
          </a:stretch>
        </p:blipFill>
        <p:spPr>
          <a:xfrm>
            <a:off x="822960" y="1645920"/>
            <a:ext cx="5943600" cy="4572000"/>
          </a:xfrm>
          <a:prstGeom prst="rect">
            <a:avLst/>
          </a:prstGeom>
        </p:spPr>
      </p:pic>
      <p:sp>
        <p:nvSpPr>
          <p:cNvPr id="4" name="Rounded Rectangle 3"/>
          <p:cNvSpPr/>
          <p:nvPr/>
        </p:nvSpPr>
        <p:spPr>
          <a:xfrm>
            <a:off x="7040880" y="1645920"/>
            <a:ext cx="4327855" cy="4572000"/>
          </a:xfrm>
          <a:prstGeom prst="roundRect">
            <a:avLst/>
          </a:prstGeom>
          <a:solidFill>
            <a:srgbClr val="121E3C"/>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1828800"/>
            <a:ext cx="3779215" cy="4206240"/>
          </a:xfrm>
          <a:prstGeom prst="rect">
            <a:avLst/>
          </a:prstGeom>
          <a:noFill/>
        </p:spPr>
        <p:txBody>
          <a:bodyPr wrap="square" lIns="0" tIns="0">
            <a:spAutoFit/>
          </a:bodyPr>
          <a:lstStyle/>
          <a:p>
            <a:pPr>
              <a:spcAft>
                <a:spcPts val="1200"/>
              </a:spcAft>
              <a:defRPr sz="1500" b="1">
                <a:solidFill>
                  <a:srgbClr val="00E676"/>
                </a:solidFill>
                <a:latin typeface="Calibri"/>
              </a:defRPr>
            </a:pPr>
            <a:r>
              <a:t>LIVE RESEARCH WORKSPACE</a:t>
            </a:r>
          </a:p>
          <a:p>
            <a:pPr>
              <a:spcAft>
                <a:spcPts val="800"/>
              </a:spcAft>
            </a:pPr>
            <a:r>
              <a:rPr b="1" sz="1400">
                <a:solidFill>
                  <a:srgbClr val="F5F7FA"/>
                </a:solidFill>
              </a:rPr>
              <a:t>• Real-Time Execution:</a:t>
            </a:r>
            <a:r>
              <a:rPr sz="1300">
                <a:solidFill>
                  <a:srgbClr val="A0B2CD"/>
                </a:solidFill>
              </a:rPr>
              <a:t> Single-split interactive backtesting engine powered by Streamlit and Numba-accelerated simulation kernels.</a:t>
            </a:r>
          </a:p>
          <a:p>
            <a:pPr>
              <a:spcAft>
                <a:spcPts val="800"/>
              </a:spcAft>
            </a:pPr>
            <a:r>
              <a:rPr b="1" sz="1400">
                <a:solidFill>
                  <a:srgbClr val="F5F7FA"/>
                </a:solidFill>
              </a:rPr>
              <a:t>• 5 Specialized Tabs:</a:t>
            </a:r>
            <a:r>
              <a:rPr sz="1300">
                <a:solidFill>
                  <a:srgbClr val="A0B2CD"/>
                </a:solidFill>
              </a:rPr>
              <a:t> Overview KPIs, Strategy Explorer (Pareto trade-offs), Model Insights (feature gains), Trade Journal, and Methodology.</a:t>
            </a:r>
          </a:p>
          <a:p>
            <a:pPr>
              <a:spcAft>
                <a:spcPts val="800"/>
              </a:spcAft>
            </a:pPr>
            <a:r>
              <a:rPr b="1" sz="1400">
                <a:solidFill>
                  <a:srgbClr val="F5F7FA"/>
                </a:solidFill>
              </a:rPr>
              <a:t>• One-Click Native Launcher:</a:t>
            </a:r>
            <a:r>
              <a:rPr sz="1300">
                <a:solidFill>
                  <a:srgbClr val="A0B2CD"/>
                </a:solidFill>
              </a:rPr>
              <a:t> Packaged with run_app.bat for direct double-click desktop execution on Windows.</a:t>
            </a:r>
          </a:p>
          <a:p>
            <a:pPr>
              <a:spcAft>
                <a:spcPts val="800"/>
              </a:spcAft>
            </a:pPr>
            <a:r>
              <a:rPr b="1" sz="1400">
                <a:solidFill>
                  <a:srgbClr val="F5F7FA"/>
                </a:solidFill>
              </a:rPr>
              <a:t>• Deterministic Testing:</a:t>
            </a:r>
            <a:r>
              <a:rPr sz="1300">
                <a:solidFill>
                  <a:srgbClr val="A0B2CD"/>
                </a:solidFill>
              </a:rPr>
              <a:t> Verified with 35 automated offline unit and integration tests (zero external network reliance during audits).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822960" y="502920"/>
            <a:ext cx="10545775" cy="1097280"/>
          </a:xfrm>
          <a:prstGeom prst="rect">
            <a:avLst/>
          </a:prstGeom>
          <a:noFill/>
        </p:spPr>
        <p:txBody>
          <a:bodyPr wrap="square" lIns="0" tIns="0" rIns="0" bIns="0">
            <a:spAutoFit/>
          </a:bodyPr>
          <a:lstStyle/>
          <a:p>
            <a:pPr>
              <a:spcAft>
                <a:spcPts val="400"/>
              </a:spcAft>
              <a:defRPr sz="1200" b="1">
                <a:solidFill>
                  <a:srgbClr val="00E5FF"/>
                </a:solidFill>
                <a:latin typeface="Calibri"/>
              </a:defRPr>
            </a:pPr>
            <a:r>
              <a:t>SUMMARY &amp; NEXT STEPS</a:t>
            </a:r>
          </a:p>
          <a:p>
            <a:pPr>
              <a:defRPr sz="3200" b="1">
                <a:solidFill>
                  <a:srgbClr val="F5F7FA"/>
                </a:solidFill>
                <a:latin typeface="Calibri"/>
              </a:defRPr>
            </a:pPr>
            <a:r>
              <a:t>Institutional Roadmap: Alpha Scaling &amp; Commercialization</a:t>
            </a:r>
          </a:p>
        </p:txBody>
      </p:sp>
      <p:sp>
        <p:nvSpPr>
          <p:cNvPr id="3" name="Rounded Rectangle 2"/>
          <p:cNvSpPr/>
          <p:nvPr/>
        </p:nvSpPr>
        <p:spPr>
          <a:xfrm>
            <a:off x="822960" y="1737360"/>
            <a:ext cx="5120640" cy="1737360"/>
          </a:xfrm>
          <a:prstGeom prst="roundRect">
            <a:avLst/>
          </a:prstGeom>
          <a:solidFill>
            <a:srgbClr val="121E3C"/>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901952"/>
            <a:ext cx="4663440" cy="1371600"/>
          </a:xfrm>
          <a:prstGeom prst="rect">
            <a:avLst/>
          </a:prstGeom>
          <a:noFill/>
        </p:spPr>
        <p:txBody>
          <a:bodyPr wrap="square" lIns="0" tIns="0">
            <a:spAutoFit/>
          </a:bodyPr>
          <a:lstStyle/>
          <a:p>
            <a:pPr>
              <a:spcAft>
                <a:spcPts val="400"/>
              </a:spcAft>
              <a:defRPr sz="1900" b="1">
                <a:solidFill>
                  <a:srgbClr val="00E5FF"/>
                </a:solidFill>
                <a:latin typeface="Calibri"/>
              </a:defRPr>
            </a:pPr>
            <a:r>
              <a:t>Universe Expansion</a:t>
            </a:r>
          </a:p>
          <a:p>
            <a:pPr>
              <a:defRPr sz="1300">
                <a:solidFill>
                  <a:srgbClr val="A0B2CD"/>
                </a:solidFill>
                <a:latin typeface="Calibri"/>
              </a:defRPr>
            </a:pPr>
            <a:r>
              <a:t>Scale from 3 single-stock universes to the full NIFTY 50 and S&amp;P 500 constituents with cross-sectional rank portfolio rebalancing.</a:t>
            </a:r>
          </a:p>
        </p:txBody>
      </p:sp>
      <p:sp>
        <p:nvSpPr>
          <p:cNvPr id="5" name="Rounded Rectangle 4"/>
          <p:cNvSpPr/>
          <p:nvPr/>
        </p:nvSpPr>
        <p:spPr>
          <a:xfrm>
            <a:off x="6217920" y="1737360"/>
            <a:ext cx="5120640" cy="1737360"/>
          </a:xfrm>
          <a:prstGeom prst="roundRect">
            <a:avLst/>
          </a:prstGeom>
          <a:solidFill>
            <a:srgbClr val="121E3C"/>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1901952"/>
            <a:ext cx="4663440" cy="1371600"/>
          </a:xfrm>
          <a:prstGeom prst="rect">
            <a:avLst/>
          </a:prstGeom>
          <a:noFill/>
        </p:spPr>
        <p:txBody>
          <a:bodyPr wrap="square" lIns="0" tIns="0">
            <a:spAutoFit/>
          </a:bodyPr>
          <a:lstStyle/>
          <a:p>
            <a:pPr>
              <a:spcAft>
                <a:spcPts val="400"/>
              </a:spcAft>
              <a:defRPr sz="1900" b="1">
                <a:solidFill>
                  <a:srgbClr val="00E676"/>
                </a:solidFill>
                <a:latin typeface="Calibri"/>
              </a:defRPr>
            </a:pPr>
            <a:r>
              <a:t>Macroeconomic Overlays</a:t>
            </a:r>
          </a:p>
          <a:p>
            <a:pPr>
              <a:defRPr sz="1300">
                <a:solidFill>
                  <a:srgbClr val="A0B2CD"/>
                </a:solidFill>
                <a:latin typeface="Calibri"/>
              </a:defRPr>
            </a:pPr>
            <a:r>
              <a:t>Incorporate yield curve spreads, RBI interest rate decisions, and crude oil volatility indices into Tier 1 feature space.</a:t>
            </a:r>
          </a:p>
        </p:txBody>
      </p:sp>
      <p:sp>
        <p:nvSpPr>
          <p:cNvPr id="7" name="Rounded Rectangle 6"/>
          <p:cNvSpPr/>
          <p:nvPr/>
        </p:nvSpPr>
        <p:spPr>
          <a:xfrm>
            <a:off x="822960" y="3657600"/>
            <a:ext cx="5120640" cy="1737360"/>
          </a:xfrm>
          <a:prstGeom prst="roundRect">
            <a:avLst/>
          </a:prstGeom>
          <a:solidFill>
            <a:srgbClr val="121E3C"/>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822192"/>
            <a:ext cx="4663440" cy="1371600"/>
          </a:xfrm>
          <a:prstGeom prst="rect">
            <a:avLst/>
          </a:prstGeom>
          <a:noFill/>
        </p:spPr>
        <p:txBody>
          <a:bodyPr wrap="square" lIns="0" tIns="0">
            <a:spAutoFit/>
          </a:bodyPr>
          <a:lstStyle/>
          <a:p>
            <a:pPr>
              <a:spcAft>
                <a:spcPts val="400"/>
              </a:spcAft>
              <a:defRPr sz="1900" b="1">
                <a:solidFill>
                  <a:srgbClr val="FF9100"/>
                </a:solidFill>
                <a:latin typeface="Calibri"/>
              </a:defRPr>
            </a:pPr>
            <a:r>
              <a:t>Execution Microstructure</a:t>
            </a:r>
          </a:p>
          <a:p>
            <a:pPr>
              <a:defRPr sz="1300">
                <a:solidFill>
                  <a:srgbClr val="A0B2CD"/>
                </a:solidFill>
                <a:latin typeface="Calibri"/>
              </a:defRPr>
            </a:pPr>
            <a:r>
              <a:t>Integrate intraday tick data and TWAP/VWAP execution algorithms for institutional large-block order routing.</a:t>
            </a:r>
          </a:p>
        </p:txBody>
      </p:sp>
      <p:sp>
        <p:nvSpPr>
          <p:cNvPr id="9" name="Rounded Rectangle 8"/>
          <p:cNvSpPr/>
          <p:nvPr/>
        </p:nvSpPr>
        <p:spPr>
          <a:xfrm>
            <a:off x="6217920" y="3657600"/>
            <a:ext cx="5120640" cy="1737360"/>
          </a:xfrm>
          <a:prstGeom prst="roundRect">
            <a:avLst/>
          </a:prstGeom>
          <a:solidFill>
            <a:srgbClr val="121E3C"/>
          </a:solidFill>
          <a:ln w="15240">
            <a:solidFill>
              <a:srgbClr val="B48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3822192"/>
            <a:ext cx="4663440" cy="1371600"/>
          </a:xfrm>
          <a:prstGeom prst="rect">
            <a:avLst/>
          </a:prstGeom>
          <a:noFill/>
        </p:spPr>
        <p:txBody>
          <a:bodyPr wrap="square" lIns="0" tIns="0">
            <a:spAutoFit/>
          </a:bodyPr>
          <a:lstStyle/>
          <a:p>
            <a:pPr>
              <a:spcAft>
                <a:spcPts val="400"/>
              </a:spcAft>
              <a:defRPr sz="1900" b="1">
                <a:solidFill>
                  <a:srgbClr val="B488FF"/>
                </a:solidFill>
                <a:latin typeface="Calibri"/>
              </a:defRPr>
            </a:pPr>
            <a:r>
              <a:t>Commercial Thesis</a:t>
            </a:r>
          </a:p>
          <a:p>
            <a:pPr>
              <a:defRPr sz="1300">
                <a:solidFill>
                  <a:srgbClr val="A0B2CD"/>
                </a:solidFill>
                <a:latin typeface="Calibri"/>
              </a:defRPr>
            </a:pPr>
            <a:r>
              <a:t>Delivers asymmetric wealth preservation for conservative capital seeking high Sharpe downside protection in volatile emerging markets.</a:t>
            </a:r>
          </a:p>
        </p:txBody>
      </p:sp>
      <p:sp>
        <p:nvSpPr>
          <p:cNvPr id="11" name="Rounded Rectangle 10"/>
          <p:cNvSpPr/>
          <p:nvPr/>
        </p:nvSpPr>
        <p:spPr>
          <a:xfrm>
            <a:off x="822960" y="5623560"/>
            <a:ext cx="10545775" cy="777240"/>
          </a:xfrm>
          <a:prstGeom prst="roundRect">
            <a:avLst/>
          </a:prstGeom>
          <a:solidFill>
            <a:srgbClr val="0C163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5715000"/>
            <a:ext cx="9997135" cy="594360"/>
          </a:xfrm>
          <a:prstGeom prst="rect">
            <a:avLst/>
          </a:prstGeom>
          <a:noFill/>
        </p:spPr>
        <p:txBody>
          <a:bodyPr wrap="square">
            <a:spAutoFit/>
          </a:bodyPr>
          <a:lstStyle/>
          <a:p>
            <a:pPr algn="ctr">
              <a:defRPr sz="1700" b="1">
                <a:solidFill>
                  <a:srgbClr val="F5F7FA"/>
                </a:solidFill>
                <a:latin typeface="Calibri"/>
              </a:defRPr>
            </a:pPr>
            <a:r>
              <a:t>Thank you for your consideration  —  We welcome your questions &amp; quantitative due diligence.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