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we present our project, 'Hybrid Market Predictor and Strategy Optimizer'. Our work combines two computational intelligence methods—LightGBM and NSGA-II—to study systematic trading on Indian equity markets. I am presenting on behalf of team members Ashish Ranjan, Khuushi Maheshwari, and Satyanarayan H. from Manipal Institute of Technology.</a:t>
            </a:r>
          </a:p>
          <a:p/>
          <a:p>
            <a:r>
              <a:t>[Evidence Source: Task P005 Plan; PROJECT.md Section 1; reports/submission/VIVA_DEFENSE_NOTES.md]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purpose of this project is to explore how machine learning and evolutionary search interact under market frictions. First, we learn patterns from historical price data. Second, we search for trading rules that balance reward against risk. Third, we evaluate those candidate rules strictly on later, unseen test periods. This project is an academic research simulator, not a tool for live trading or guaranteed profits.</a:t>
            </a:r>
          </a:p>
          <a:p/>
          <a:p>
            <a:r>
              <a:t>[Evidence Source: Task P005 Plan; PROJECT.md Purpose; reports/submission/RESEARCH_PAPER_DRAFT.pdf Section 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study evaluates three major National Stock Exchange equities: Reliance, TCS, and Infosys. We collected daily trading prices and volume through yfinance, storing frozen snapshots for exact reproducibility. From raw prices, we engineer twenty indicators capturing trend, momentum, and volatility. Models train on historical data dating back to 2002, while our rolling campaign rigorously tests annual out-of-sample periods from 2020 through 2025.</a:t>
            </a:r>
          </a:p>
          <a:p/>
          <a:p>
            <a:r>
              <a:t>[Evidence Source: Task P005 Plan; reports/experiments/inputs/manifest.json; reports/submission/RESEARCH_PAPER_DRAFT.pdf Section 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execution pipeline. First, we read historical daily prices. Second, we build technical indicators without looking ahead. Third, LightGBM estimates the probability that price will rise over the next three trading bars. Fourth, the NSGA-II genetic algorithm evolves entry thresholds, stop-losses, and holding horizons. Finally, we simulate trade execution on later unseen test data, incorporating commissions and slippage.</a:t>
            </a:r>
          </a:p>
          <a:p/>
          <a:p>
            <a:r>
              <a:t>[Evidence Source: Task P005 Plan; src/pipeline.py; reports/submission/VIVA_DEFENSE_NOTES.md Core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framework separates prediction from trade execution. LightGBM learns from past indicator patterns and outputs a forward directional probability between zero and one. NSGA-II is an evolutionary algorithm that optimizes candidate trading rules over repeated rounds. It balances Sharpe ratio—return divided by volatility—against maximum drawdown, which measures the largest fall from a peak. This produces a balanced trade-off frontier.</a:t>
            </a:r>
          </a:p>
          <a:p/>
          <a:p>
            <a:r>
              <a:t>[Evidence Source: Task P005 Plan; src/predictor.py; src/evolutionary_core.py; reports/submission/VIVA_DEFENSE_NOTES.md]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empirical results from the six-year rolling study across eighteen annual folds. Passive buy-and-hold earned higher total return on all three stocks: Reliance 128.7%, TCS 65.1%, and Infosys 152.8%, compared to minus 0.35%, 25.6%, and 9.1% for the hybrid strategy. However, our system provided consistent defensive protection, reducing maximum drawdown in seventeen of eighteen annual comparisons by moving to cash during downturns.</a:t>
            </a:r>
          </a:p>
          <a:p/>
          <a:p>
            <a:r>
              <a:t>[Evidence Source: Task P005 Plan; reports/experiments/results/stitched_aggregate_metrics.csv; paired_annual_comparisons.csv; fold_summary_metrics.csv]</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created an interactive web cockpit called Evolutionary Market Lab using Streamlit. In a live demonstration, the user selects an asset, sets population to 40 candidate rules, runs 15 improvement rounds, and sets seed 42 for exact repeatability. Clicking Run Experiment fits the model and optimizes trading rules in seconds. This interactive cockpit uses a single chronological split, keeping it distinct from our multi-year rolling study.</a:t>
            </a:r>
          </a:p>
          <a:p/>
          <a:p>
            <a:r>
              <a:t>[Evidence Source: Task P005 Plan; app.py; run_app.bat; reports/ui/UI_REDESIGN_NOTES.md]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built an end-to-end framework combining machine learning and evolutionary multi-objective optimization. Our empirical results show an important risk-return trade-off: evolutionary rules significantly reduced drawdown risk during market downturns, though passive buy-and-hold achieved higher cumulative returns in a strong bull market. Future steps include evaluating broader asset universes and richer economic indicators. Thank you for your time, and we welcome your questions.</a:t>
            </a:r>
          </a:p>
          <a:p/>
          <a:p>
            <a:r>
              <a:t>[Evidence Source: Task P005 Plan; reports/submission/COLLEGE_PROJECT_REPORT.pdf; reports/submission/VIVA_DEFENSE_NOTES.md]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1280160"/>
            <a:ext cx="9997135" cy="4389120"/>
          </a:xfrm>
          <a:prstGeom prst="rect">
            <a:avLst/>
          </a:prstGeom>
          <a:noFill/>
        </p:spPr>
        <p:txBody>
          <a:bodyPr wrap="square" lIns="0" tIns="0">
            <a:spAutoFit/>
          </a:bodyPr>
          <a:lstStyle/>
          <a:p>
            <a:pPr>
              <a:spcAft>
                <a:spcPts val="1400"/>
              </a:spcAft>
              <a:defRPr sz="1400" b="1">
                <a:solidFill>
                  <a:srgbClr val="1B4965"/>
                </a:solidFill>
                <a:latin typeface="Calibri"/>
              </a:defRPr>
            </a:pPr>
            <a:r>
              <a:t>MINOR SPECIALIZATION RESEARCH PROJECT</a:t>
            </a:r>
          </a:p>
          <a:p>
            <a:pPr>
              <a:spcAft>
                <a:spcPts val="1000"/>
              </a:spcAft>
              <a:defRPr sz="4200" b="1">
                <a:solidFill>
                  <a:srgbClr val="0B192C"/>
                </a:solidFill>
                <a:latin typeface="Calibri"/>
              </a:defRPr>
            </a:pPr>
            <a:r>
              <a:t>Hybrid Market Predictor &amp; Strategy Optimizer</a:t>
            </a:r>
          </a:p>
          <a:p>
            <a:pPr>
              <a:spcAft>
                <a:spcPts val="3600"/>
              </a:spcAft>
              <a:defRPr sz="2400">
                <a:solidFill>
                  <a:srgbClr val="415A77"/>
                </a:solidFill>
                <a:latin typeface="Calibri"/>
              </a:defRPr>
            </a:pPr>
            <a:r>
              <a:t>LightGBM and NSGA-II for Indian stocks</a:t>
            </a:r>
          </a:p>
          <a:p>
            <a:pPr>
              <a:spcAft>
                <a:spcPts val="800"/>
              </a:spcAft>
              <a:defRPr sz="2000" b="1">
                <a:solidFill>
                  <a:srgbClr val="0B192C"/>
                </a:solidFill>
                <a:latin typeface="Calibri"/>
              </a:defRPr>
            </a:pPr>
            <a:r>
              <a:t>Authors: Ashish Ranjan   •   Khuushi Maheshwari   •   Satyanarayan H.</a:t>
            </a:r>
          </a:p>
          <a:p>
            <a:pPr>
              <a:defRPr sz="1800">
                <a:solidFill>
                  <a:srgbClr val="415A77"/>
                </a:solidFill>
                <a:latin typeface="Calibri"/>
              </a:defRPr>
            </a:pPr>
            <a:r>
              <a:t>Manipal Institute of Technology   |   B.Tech - Computer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731520"/>
            <a:ext cx="9997135" cy="1188720"/>
          </a:xfrm>
          <a:prstGeom prst="rect">
            <a:avLst/>
          </a:prstGeom>
          <a:noFill/>
        </p:spPr>
        <p:txBody>
          <a:bodyPr wrap="square" lIns="0" tIns="0" rIns="0" bIns="0">
            <a:spAutoFit/>
          </a:bodyPr>
          <a:lstStyle/>
          <a:p>
            <a:pPr>
              <a:spcAft>
                <a:spcPts val="400"/>
              </a:spcAft>
              <a:defRPr sz="1300" b="1">
                <a:solidFill>
                  <a:srgbClr val="1B4965"/>
                </a:solidFill>
                <a:latin typeface="Calibri"/>
              </a:defRPr>
            </a:pPr>
            <a:r>
              <a:t>OVERVIEW &amp; MOTIVATION</a:t>
            </a:r>
          </a:p>
          <a:p>
            <a:pPr>
              <a:defRPr sz="3600" b="1">
                <a:solidFill>
                  <a:srgbClr val="0B192C"/>
                </a:solidFill>
                <a:latin typeface="Calibri"/>
              </a:defRPr>
            </a:pPr>
            <a:r>
              <a:t>Project Purpose</a:t>
            </a:r>
          </a:p>
        </p:txBody>
      </p:sp>
      <p:sp>
        <p:nvSpPr>
          <p:cNvPr id="3" name="TextBox 2"/>
          <p:cNvSpPr txBox="1"/>
          <p:nvPr/>
        </p:nvSpPr>
        <p:spPr>
          <a:xfrm>
            <a:off x="1097280" y="2194560"/>
            <a:ext cx="9997135" cy="3840480"/>
          </a:xfrm>
          <a:prstGeom prst="rect">
            <a:avLst/>
          </a:prstGeom>
          <a:noFill/>
        </p:spPr>
        <p:txBody>
          <a:bodyPr wrap="square" lIns="0" tIns="0">
            <a:spAutoFit/>
          </a:bodyPr>
          <a:lstStyle/>
          <a:p>
            <a:pPr>
              <a:spcAft>
                <a:spcPts val="3000"/>
              </a:spcAft>
              <a:defRPr sz="2600">
                <a:solidFill>
                  <a:srgbClr val="0B192C"/>
                </a:solidFill>
                <a:latin typeface="Calibri"/>
              </a:defRPr>
            </a:pPr>
            <a:r>
              <a:t>•   Learn patterns in historical stock data.</a:t>
            </a:r>
          </a:p>
          <a:p>
            <a:pPr>
              <a:spcAft>
                <a:spcPts val="3000"/>
              </a:spcAft>
              <a:defRPr sz="2600">
                <a:solidFill>
                  <a:srgbClr val="0B192C"/>
                </a:solidFill>
                <a:latin typeface="Calibri"/>
              </a:defRPr>
            </a:pPr>
            <a:r>
              <a:t>•   Search for trading rules that balance return and risk.</a:t>
            </a:r>
          </a:p>
          <a:p>
            <a:pPr>
              <a:spcAft>
                <a:spcPts val="3000"/>
              </a:spcAft>
              <a:defRPr sz="2600">
                <a:solidFill>
                  <a:srgbClr val="0B192C"/>
                </a:solidFill>
                <a:latin typeface="Calibri"/>
              </a:defRPr>
            </a:pPr>
            <a:r>
              <a:t>•   Test those rules on later, unseen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731520"/>
            <a:ext cx="9997135" cy="1188720"/>
          </a:xfrm>
          <a:prstGeom prst="rect">
            <a:avLst/>
          </a:prstGeom>
          <a:noFill/>
        </p:spPr>
        <p:txBody>
          <a:bodyPr wrap="square" lIns="0" tIns="0" rIns="0" bIns="0">
            <a:spAutoFit/>
          </a:bodyPr>
          <a:lstStyle/>
          <a:p>
            <a:pPr>
              <a:spcAft>
                <a:spcPts val="400"/>
              </a:spcAft>
              <a:defRPr sz="1300" b="1">
                <a:solidFill>
                  <a:srgbClr val="1B4965"/>
                </a:solidFill>
                <a:latin typeface="Calibri"/>
              </a:defRPr>
            </a:pPr>
            <a:r>
              <a:t>SYSTEM ARCHITECTURE &amp; INPUTS</a:t>
            </a:r>
          </a:p>
          <a:p>
            <a:pPr>
              <a:defRPr sz="3600" b="1">
                <a:solidFill>
                  <a:srgbClr val="0B192C"/>
                </a:solidFill>
                <a:latin typeface="Calibri"/>
              </a:defRPr>
            </a:pPr>
            <a:r>
              <a:t>Data and Tools</a:t>
            </a:r>
          </a:p>
        </p:txBody>
      </p:sp>
      <p:sp>
        <p:nvSpPr>
          <p:cNvPr id="3" name="TextBox 2"/>
          <p:cNvSpPr txBox="1"/>
          <p:nvPr/>
        </p:nvSpPr>
        <p:spPr>
          <a:xfrm>
            <a:off x="1097280" y="2103120"/>
            <a:ext cx="9997135" cy="4114800"/>
          </a:xfrm>
          <a:prstGeom prst="rect">
            <a:avLst/>
          </a:prstGeom>
          <a:noFill/>
        </p:spPr>
        <p:txBody>
          <a:bodyPr wrap="square" lIns="0" tIns="0">
            <a:spAutoFit/>
          </a:bodyPr>
          <a:lstStyle/>
          <a:p>
            <a:pPr>
              <a:spcAft>
                <a:spcPts val="2400"/>
              </a:spcAft>
            </a:pPr>
            <a:r>
              <a:rPr sz="2400" b="1">
                <a:solidFill>
                  <a:srgbClr val="0B192C"/>
                </a:solidFill>
                <a:latin typeface="Calibri"/>
              </a:rPr>
              <a:t>•   NSE stocks:</a:t>
            </a:r>
            <a:r>
              <a:rPr sz="2400" b="0">
                <a:solidFill>
                  <a:srgbClr val="415A77"/>
                </a:solidFill>
                <a:latin typeface="Calibri"/>
              </a:rPr>
              <a:t> Reliance, TCS, and Infosys.</a:t>
            </a:r>
          </a:p>
          <a:p>
            <a:pPr>
              <a:spcAft>
                <a:spcPts val="2400"/>
              </a:spcAft>
            </a:pPr>
            <a:r>
              <a:rPr sz="2400" b="1">
                <a:solidFill>
                  <a:srgbClr val="0B192C"/>
                </a:solidFill>
                <a:latin typeface="Calibri"/>
              </a:rPr>
              <a:t>•   Price and volume data:</a:t>
            </a:r>
            <a:r>
              <a:rPr sz="2400" b="0">
                <a:solidFill>
                  <a:srgbClr val="415A77"/>
                </a:solidFill>
                <a:latin typeface="Calibri"/>
              </a:rPr>
              <a:t> Daily prices and trading volume via yfinance, saved as immutable snapshots.</a:t>
            </a:r>
          </a:p>
          <a:p>
            <a:pPr>
              <a:spcAft>
                <a:spcPts val="2400"/>
              </a:spcAft>
            </a:pPr>
            <a:r>
              <a:rPr sz="2400" b="1">
                <a:solidFill>
                  <a:srgbClr val="0B192C"/>
                </a:solidFill>
                <a:latin typeface="Calibri"/>
              </a:rPr>
              <a:t>•   Feature library:</a:t>
            </a:r>
            <a:r>
              <a:rPr sz="2400" b="0">
                <a:solidFill>
                  <a:srgbClr val="415A77"/>
                </a:solidFill>
                <a:latin typeface="Calibri"/>
              </a:rPr>
              <a:t> 20 indicators describing market trend, momentum, and volatility.</a:t>
            </a:r>
          </a:p>
          <a:p>
            <a:pPr>
              <a:spcAft>
                <a:spcPts val="2400"/>
              </a:spcAft>
            </a:pPr>
            <a:r>
              <a:rPr sz="2400" b="1">
                <a:solidFill>
                  <a:srgbClr val="0B192C"/>
                </a:solidFill>
                <a:latin typeface="Calibri"/>
              </a:rPr>
              <a:t>•   Software stack:</a:t>
            </a:r>
            <a:r>
              <a:rPr sz="2400" b="0">
                <a:solidFill>
                  <a:srgbClr val="415A77"/>
                </a:solidFill>
                <a:latin typeface="Calibri"/>
              </a:rPr>
              <a:t> Python with LightGBM, NSGA-II, and Streamlit for visual interaction.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731520"/>
            <a:ext cx="9997135" cy="1188720"/>
          </a:xfrm>
          <a:prstGeom prst="rect">
            <a:avLst/>
          </a:prstGeom>
          <a:noFill/>
        </p:spPr>
        <p:txBody>
          <a:bodyPr wrap="square" lIns="0" tIns="0" rIns="0" bIns="0">
            <a:spAutoFit/>
          </a:bodyPr>
          <a:lstStyle/>
          <a:p>
            <a:pPr>
              <a:spcAft>
                <a:spcPts val="400"/>
              </a:spcAft>
              <a:defRPr sz="1300" b="1">
                <a:solidFill>
                  <a:srgbClr val="1B4965"/>
                </a:solidFill>
                <a:latin typeface="Calibri"/>
              </a:defRPr>
            </a:pPr>
            <a:r>
              <a:t>EXECUTION PIPELINE</a:t>
            </a:r>
          </a:p>
          <a:p>
            <a:pPr>
              <a:defRPr sz="3600" b="1">
                <a:solidFill>
                  <a:srgbClr val="0B192C"/>
                </a:solidFill>
                <a:latin typeface="Calibri"/>
              </a:defRPr>
            </a:pPr>
            <a:r>
              <a:t>How It Works</a:t>
            </a:r>
          </a:p>
        </p:txBody>
      </p:sp>
      <p:sp>
        <p:nvSpPr>
          <p:cNvPr id="3" name="TextBox 2"/>
          <p:cNvSpPr txBox="1"/>
          <p:nvPr/>
        </p:nvSpPr>
        <p:spPr>
          <a:xfrm>
            <a:off x="1097280" y="2011680"/>
            <a:ext cx="9997135" cy="4297680"/>
          </a:xfrm>
          <a:prstGeom prst="rect">
            <a:avLst/>
          </a:prstGeom>
          <a:noFill/>
        </p:spPr>
        <p:txBody>
          <a:bodyPr wrap="square" lIns="0" tIns="0">
            <a:spAutoFit/>
          </a:bodyPr>
          <a:lstStyle/>
          <a:p>
            <a:pPr>
              <a:spcAft>
                <a:spcPts val="1800"/>
              </a:spcAft>
              <a:defRPr sz="2300">
                <a:solidFill>
                  <a:srgbClr val="0B192C"/>
                </a:solidFill>
                <a:latin typeface="Calibri"/>
              </a:defRPr>
            </a:pPr>
            <a:r>
              <a:t>1.  Read historical daily market prices.</a:t>
            </a:r>
          </a:p>
          <a:p>
            <a:pPr>
              <a:spcAft>
                <a:spcPts val="1800"/>
              </a:spcAft>
              <a:defRPr sz="2300">
                <a:solidFill>
                  <a:srgbClr val="0B192C"/>
                </a:solidFill>
                <a:latin typeface="Calibri"/>
              </a:defRPr>
            </a:pPr>
            <a:r>
              <a:t>2.  Build technical indicators describing trend and volatility.</a:t>
            </a:r>
          </a:p>
          <a:p>
            <a:pPr>
              <a:spcAft>
                <a:spcPts val="1800"/>
              </a:spcAft>
              <a:defRPr sz="2300">
                <a:solidFill>
                  <a:srgbClr val="0B192C"/>
                </a:solidFill>
                <a:latin typeface="Calibri"/>
              </a:defRPr>
            </a:pPr>
            <a:r>
              <a:t>3.  LightGBM estimates the chance of a rise over the next 3 trading bars.</a:t>
            </a:r>
          </a:p>
          <a:p>
            <a:pPr>
              <a:spcAft>
                <a:spcPts val="1800"/>
              </a:spcAft>
              <a:defRPr sz="2300">
                <a:solidFill>
                  <a:srgbClr val="0B192C"/>
                </a:solidFill>
                <a:latin typeface="Calibri"/>
              </a:defRPr>
            </a:pPr>
            <a:r>
              <a:t>4.  NSGA-II searches for entry, exit, and risk rules.</a:t>
            </a:r>
          </a:p>
          <a:p>
            <a:pPr>
              <a:spcAft>
                <a:spcPts val="1800"/>
              </a:spcAft>
              <a:defRPr sz="2300">
                <a:solidFill>
                  <a:srgbClr val="0B192C"/>
                </a:solidFill>
                <a:latin typeface="Calibri"/>
              </a:defRPr>
            </a:pPr>
            <a:r>
              <a:t>5.  Backtest on later data and show results.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731520"/>
            <a:ext cx="9997135" cy="1188720"/>
          </a:xfrm>
          <a:prstGeom prst="rect">
            <a:avLst/>
          </a:prstGeom>
          <a:noFill/>
        </p:spPr>
        <p:txBody>
          <a:bodyPr wrap="square" lIns="0" tIns="0" rIns="0" bIns="0">
            <a:spAutoFit/>
          </a:bodyPr>
          <a:lstStyle/>
          <a:p>
            <a:pPr>
              <a:spcAft>
                <a:spcPts val="400"/>
              </a:spcAft>
              <a:defRPr sz="1300" b="1">
                <a:solidFill>
                  <a:srgbClr val="1B4965"/>
                </a:solidFill>
                <a:latin typeface="Calibri"/>
              </a:defRPr>
            </a:pPr>
            <a:r>
              <a:t>PREDICTIVE ML &amp; EVOLUTIONARY SEARCH</a:t>
            </a:r>
          </a:p>
          <a:p>
            <a:pPr>
              <a:defRPr sz="3600" b="1">
                <a:solidFill>
                  <a:srgbClr val="0B192C"/>
                </a:solidFill>
                <a:latin typeface="Calibri"/>
              </a:defRPr>
            </a:pPr>
            <a:r>
              <a:t>The Two Algorithms</a:t>
            </a:r>
          </a:p>
        </p:txBody>
      </p:sp>
      <p:sp>
        <p:nvSpPr>
          <p:cNvPr id="3" name="TextBox 2"/>
          <p:cNvSpPr txBox="1"/>
          <p:nvPr/>
        </p:nvSpPr>
        <p:spPr>
          <a:xfrm>
            <a:off x="1097280" y="2103120"/>
            <a:ext cx="4754880" cy="4206240"/>
          </a:xfrm>
          <a:prstGeom prst="rect">
            <a:avLst/>
          </a:prstGeom>
          <a:noFill/>
        </p:spPr>
        <p:txBody>
          <a:bodyPr wrap="square" lIns="0" tIns="0">
            <a:spAutoFit/>
          </a:bodyPr>
          <a:lstStyle/>
          <a:p>
            <a:pPr>
              <a:spcAft>
                <a:spcPts val="1400"/>
              </a:spcAft>
              <a:defRPr sz="2600" b="1">
                <a:solidFill>
                  <a:srgbClr val="1B4965"/>
                </a:solidFill>
                <a:latin typeface="Calibri"/>
              </a:defRPr>
            </a:pPr>
            <a:r>
              <a:t>Tier 1: LightGBM</a:t>
            </a:r>
          </a:p>
          <a:p>
            <a:pPr>
              <a:spcAft>
                <a:spcPts val="1000"/>
              </a:spcAft>
              <a:defRPr sz="2200">
                <a:solidFill>
                  <a:srgbClr val="0B192C"/>
                </a:solidFill>
                <a:latin typeface="Calibri"/>
              </a:defRPr>
            </a:pPr>
            <a:r>
              <a:t>•   Learns from past indicator examples.</a:t>
            </a:r>
          </a:p>
          <a:p>
            <a:pPr>
              <a:spcAft>
                <a:spcPts val="1600"/>
              </a:spcAft>
              <a:defRPr sz="2200">
                <a:solidFill>
                  <a:srgbClr val="0B192C"/>
                </a:solidFill>
                <a:latin typeface="Calibri"/>
              </a:defRPr>
            </a:pPr>
            <a:r>
              <a:t>•   Produces a forward 3-day directional probability.</a:t>
            </a:r>
          </a:p>
          <a:p>
            <a:pPr>
              <a:defRPr sz="1800">
                <a:solidFill>
                  <a:srgbClr val="415A77"/>
                </a:solidFill>
                <a:latin typeface="Calibri"/>
              </a:defRPr>
            </a:pPr>
            <a:r>
              <a:t>Directional Forecast: Estimates market probability rather than guaranteeing exact price levels.</a:t>
            </a:r>
          </a:p>
        </p:txBody>
      </p:sp>
      <p:sp>
        <p:nvSpPr>
          <p:cNvPr id="4" name="TextBox 3"/>
          <p:cNvSpPr txBox="1"/>
          <p:nvPr/>
        </p:nvSpPr>
        <p:spPr>
          <a:xfrm>
            <a:off x="6309360" y="2103120"/>
            <a:ext cx="4754880" cy="4206240"/>
          </a:xfrm>
          <a:prstGeom prst="rect">
            <a:avLst/>
          </a:prstGeom>
          <a:noFill/>
        </p:spPr>
        <p:txBody>
          <a:bodyPr wrap="square" lIns="0" tIns="0">
            <a:spAutoFit/>
          </a:bodyPr>
          <a:lstStyle/>
          <a:p>
            <a:pPr>
              <a:spcAft>
                <a:spcPts val="1400"/>
              </a:spcAft>
              <a:defRPr sz="2600" b="1">
                <a:solidFill>
                  <a:srgbClr val="1B4965"/>
                </a:solidFill>
                <a:latin typeface="Calibri"/>
              </a:defRPr>
            </a:pPr>
            <a:r>
              <a:t>Tier 2: NSGA-II</a:t>
            </a:r>
          </a:p>
          <a:p>
            <a:pPr>
              <a:spcAft>
                <a:spcPts val="1000"/>
              </a:spcAft>
              <a:defRPr sz="2200">
                <a:solidFill>
                  <a:srgbClr val="0B192C"/>
                </a:solidFill>
                <a:latin typeface="Calibri"/>
              </a:defRPr>
            </a:pPr>
            <a:r>
              <a:t>•   Improves candidate trading rules over repeated rounds.</a:t>
            </a:r>
          </a:p>
          <a:p>
            <a:pPr>
              <a:spcAft>
                <a:spcPts val="1600"/>
              </a:spcAft>
              <a:defRPr sz="2200">
                <a:solidFill>
                  <a:srgbClr val="0B192C"/>
                </a:solidFill>
                <a:latin typeface="Calibri"/>
              </a:defRPr>
            </a:pPr>
            <a:r>
              <a:t>•   Balances Sharpe ratio and maximum drawdown simultaneously.</a:t>
            </a:r>
          </a:p>
          <a:p>
            <a:pPr>
              <a:defRPr sz="1800">
                <a:solidFill>
                  <a:srgbClr val="415A77"/>
                </a:solidFill>
                <a:latin typeface="Calibri"/>
              </a:defRPr>
            </a:pPr>
            <a:r>
              <a:t>Key Metrics:</a:t>
            </a:r>
            <a:br/>
            <a:r>
              <a:t>• Sharpe = Return relative to volatility</a:t>
            </a:r>
            <a:br/>
            <a:r>
              <a:t>• Drawdown = Largest peak-to-trough fall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731520"/>
            <a:ext cx="9997135" cy="1188720"/>
          </a:xfrm>
          <a:prstGeom prst="rect">
            <a:avLst/>
          </a:prstGeom>
          <a:noFill/>
        </p:spPr>
        <p:txBody>
          <a:bodyPr wrap="square" lIns="0" tIns="0" rIns="0" bIns="0">
            <a:spAutoFit/>
          </a:bodyPr>
          <a:lstStyle/>
          <a:p>
            <a:pPr>
              <a:spcAft>
                <a:spcPts val="400"/>
              </a:spcAft>
              <a:defRPr sz="1300" b="1">
                <a:solidFill>
                  <a:srgbClr val="1B4965"/>
                </a:solidFill>
                <a:latin typeface="Calibri"/>
              </a:defRPr>
            </a:pPr>
            <a:r>
              <a:t>6-YEAR ROLLING RETROSPECTIVE STUDY (2020–2025)</a:t>
            </a:r>
          </a:p>
          <a:p>
            <a:pPr>
              <a:defRPr sz="3600" b="1">
                <a:solidFill>
                  <a:srgbClr val="0B192C"/>
                </a:solidFill>
                <a:latin typeface="Calibri"/>
              </a:defRPr>
            </a:pPr>
            <a:r>
              <a:t>Research Results</a:t>
            </a:r>
          </a:p>
        </p:txBody>
      </p:sp>
      <p:graphicFrame>
        <p:nvGraphicFramePr>
          <p:cNvPr id="3" name="Table 2"/>
          <p:cNvGraphicFramePr>
            <a:graphicFrameLocks noGrp="1"/>
          </p:cNvGraphicFramePr>
          <p:nvPr/>
        </p:nvGraphicFramePr>
        <p:xfrm>
          <a:off x="1371600" y="2011680"/>
          <a:ext cx="9448495" cy="2011680"/>
        </p:xfrm>
        <a:graphic>
          <a:graphicData uri="http://schemas.openxmlformats.org/drawingml/2006/table">
            <a:tbl>
              <a:tblPr firstRow="1" bandRow="1">
                <a:tableStyleId>{5C22544A-7EE6-4342-B048-85BDC9FD1C3A}</a:tableStyleId>
              </a:tblPr>
              <a:tblGrid>
                <a:gridCol w="3200400"/>
                <a:gridCol w="3108960"/>
                <a:gridCol w="3139135"/>
              </a:tblGrid>
              <a:tr h="502920">
                <a:tc>
                  <a:txBody>
                    <a:bodyPr/>
                    <a:lstStyle/>
                    <a:p>
                      <a:pPr algn="l">
                        <a:defRPr sz="2000" b="1">
                          <a:solidFill>
                            <a:srgbClr val="0B192C"/>
                          </a:solidFill>
                          <a:latin typeface="Calibri"/>
                        </a:defRPr>
                      </a:pPr>
                      <a:r>
                        <a:t>Stock</a:t>
                      </a:r>
                    </a:p>
                  </a:txBody>
                  <a:tcPr>
                    <a:solidFill>
                      <a:srgbClr val="F4F6F9"/>
                    </a:solidFill>
                  </a:tcPr>
                </a:tc>
                <a:tc>
                  <a:txBody>
                    <a:bodyPr/>
                    <a:lstStyle/>
                    <a:p>
                      <a:pPr algn="ctr">
                        <a:defRPr sz="2000" b="1">
                          <a:solidFill>
                            <a:srgbClr val="0B192C"/>
                          </a:solidFill>
                          <a:latin typeface="Calibri"/>
                        </a:defRPr>
                      </a:pPr>
                      <a:r>
                        <a:t>Hybrid Return</a:t>
                      </a:r>
                    </a:p>
                  </a:txBody>
                  <a:tcPr>
                    <a:solidFill>
                      <a:srgbClr val="F4F6F9"/>
                    </a:solidFill>
                  </a:tcPr>
                </a:tc>
                <a:tc>
                  <a:txBody>
                    <a:bodyPr/>
                    <a:lstStyle/>
                    <a:p>
                      <a:pPr algn="ctr">
                        <a:defRPr sz="2000" b="1">
                          <a:solidFill>
                            <a:srgbClr val="0B192C"/>
                          </a:solidFill>
                          <a:latin typeface="Calibri"/>
                        </a:defRPr>
                      </a:pPr>
                      <a:r>
                        <a:t>Buy-and-Hold Return</a:t>
                      </a:r>
                    </a:p>
                  </a:txBody>
                  <a:tcPr>
                    <a:solidFill>
                      <a:srgbClr val="F4F6F9"/>
                    </a:solidFill>
                  </a:tcPr>
                </a:tc>
              </a:tr>
              <a:tr h="502920">
                <a:tc>
                  <a:txBody>
                    <a:bodyPr/>
                    <a:lstStyle/>
                    <a:p>
                      <a:pPr algn="l">
                        <a:defRPr sz="2000" b="1">
                          <a:solidFill>
                            <a:srgbClr val="0B192C"/>
                          </a:solidFill>
                          <a:latin typeface="Calibri"/>
                        </a:defRPr>
                      </a:pPr>
                      <a:r>
                        <a:t>Reliance (RELIANCE.NS)</a:t>
                      </a:r>
                    </a:p>
                  </a:txBody>
                  <a:tcPr/>
                </a:tc>
                <a:tc>
                  <a:txBody>
                    <a:bodyPr/>
                    <a:lstStyle/>
                    <a:p>
                      <a:pPr algn="ctr">
                        <a:defRPr sz="2000" b="0">
                          <a:solidFill>
                            <a:srgbClr val="0B192C"/>
                          </a:solidFill>
                          <a:latin typeface="Calibri"/>
                        </a:defRPr>
                      </a:pPr>
                      <a:r>
                        <a:t>-0.35%</a:t>
                      </a:r>
                    </a:p>
                  </a:txBody>
                  <a:tcPr/>
                </a:tc>
                <a:tc>
                  <a:txBody>
                    <a:bodyPr/>
                    <a:lstStyle/>
                    <a:p>
                      <a:pPr algn="ctr">
                        <a:defRPr sz="2000" b="0">
                          <a:solidFill>
                            <a:srgbClr val="0B192C"/>
                          </a:solidFill>
                          <a:latin typeface="Calibri"/>
                        </a:defRPr>
                      </a:pPr>
                      <a:r>
                        <a:t>128.74%</a:t>
                      </a:r>
                    </a:p>
                  </a:txBody>
                  <a:tcPr/>
                </a:tc>
              </a:tr>
              <a:tr h="502920">
                <a:tc>
                  <a:txBody>
                    <a:bodyPr/>
                    <a:lstStyle/>
                    <a:p>
                      <a:pPr algn="l">
                        <a:defRPr sz="2000" b="1">
                          <a:solidFill>
                            <a:srgbClr val="0B192C"/>
                          </a:solidFill>
                          <a:latin typeface="Calibri"/>
                        </a:defRPr>
                      </a:pPr>
                      <a:r>
                        <a:t>TCS (TCS.NS)</a:t>
                      </a:r>
                    </a:p>
                  </a:txBody>
                  <a:tcPr/>
                </a:tc>
                <a:tc>
                  <a:txBody>
                    <a:bodyPr/>
                    <a:lstStyle/>
                    <a:p>
                      <a:pPr algn="ctr">
                        <a:defRPr sz="2000" b="0">
                          <a:solidFill>
                            <a:srgbClr val="0B192C"/>
                          </a:solidFill>
                          <a:latin typeface="Calibri"/>
                        </a:defRPr>
                      </a:pPr>
                      <a:r>
                        <a:t>25.60%</a:t>
                      </a:r>
                    </a:p>
                  </a:txBody>
                  <a:tcPr/>
                </a:tc>
                <a:tc>
                  <a:txBody>
                    <a:bodyPr/>
                    <a:lstStyle/>
                    <a:p>
                      <a:pPr algn="ctr">
                        <a:defRPr sz="2000" b="0">
                          <a:solidFill>
                            <a:srgbClr val="0B192C"/>
                          </a:solidFill>
                          <a:latin typeface="Calibri"/>
                        </a:defRPr>
                      </a:pPr>
                      <a:r>
                        <a:t>65.13%</a:t>
                      </a:r>
                    </a:p>
                  </a:txBody>
                  <a:tcPr/>
                </a:tc>
              </a:tr>
              <a:tr h="502920">
                <a:tc>
                  <a:txBody>
                    <a:bodyPr/>
                    <a:lstStyle/>
                    <a:p>
                      <a:pPr algn="l">
                        <a:defRPr sz="2000" b="1">
                          <a:solidFill>
                            <a:srgbClr val="0B192C"/>
                          </a:solidFill>
                          <a:latin typeface="Calibri"/>
                        </a:defRPr>
                      </a:pPr>
                      <a:r>
                        <a:t>Infosys (INFY.NS)</a:t>
                      </a:r>
                    </a:p>
                  </a:txBody>
                  <a:tcPr/>
                </a:tc>
                <a:tc>
                  <a:txBody>
                    <a:bodyPr/>
                    <a:lstStyle/>
                    <a:p>
                      <a:pPr algn="ctr">
                        <a:defRPr sz="2000" b="0">
                          <a:solidFill>
                            <a:srgbClr val="0B192C"/>
                          </a:solidFill>
                          <a:latin typeface="Calibri"/>
                        </a:defRPr>
                      </a:pPr>
                      <a:r>
                        <a:t>9.10%</a:t>
                      </a:r>
                    </a:p>
                  </a:txBody>
                  <a:tcPr/>
                </a:tc>
                <a:tc>
                  <a:txBody>
                    <a:bodyPr/>
                    <a:lstStyle/>
                    <a:p>
                      <a:pPr algn="ctr">
                        <a:defRPr sz="2000" b="0">
                          <a:solidFill>
                            <a:srgbClr val="0B192C"/>
                          </a:solidFill>
                          <a:latin typeface="Calibri"/>
                        </a:defRPr>
                      </a:pPr>
                      <a:r>
                        <a:t>152.78%</a:t>
                      </a:r>
                    </a:p>
                  </a:txBody>
                  <a:tcPr/>
                </a:tc>
              </a:tr>
            </a:tbl>
          </a:graphicData>
        </a:graphic>
      </p:graphicFrame>
      <p:sp>
        <p:nvSpPr>
          <p:cNvPr id="4" name="TextBox 3"/>
          <p:cNvSpPr txBox="1"/>
          <p:nvPr/>
        </p:nvSpPr>
        <p:spPr>
          <a:xfrm>
            <a:off x="1371600" y="4297680"/>
            <a:ext cx="9448495" cy="2011680"/>
          </a:xfrm>
          <a:prstGeom prst="rect">
            <a:avLst/>
          </a:prstGeom>
          <a:noFill/>
        </p:spPr>
        <p:txBody>
          <a:bodyPr wrap="square" lIns="0" tIns="0">
            <a:spAutoFit/>
          </a:bodyPr>
          <a:lstStyle/>
          <a:p>
            <a:pPr>
              <a:spcAft>
                <a:spcPts val="1200"/>
              </a:spcAft>
              <a:defRPr sz="1600" i="1">
                <a:solidFill>
                  <a:srgbClr val="415A77"/>
                </a:solidFill>
                <a:latin typeface="Calibri"/>
              </a:defRPr>
            </a:pPr>
            <a:r>
              <a:t>Caption: 2020–2025 cumulative compounded return; hybrid strategy median across 3 random GA seeds.</a:t>
            </a:r>
          </a:p>
          <a:p>
            <a:pPr>
              <a:spcAft>
                <a:spcPts val="600"/>
              </a:spcAft>
              <a:defRPr sz="2100" b="1">
                <a:solidFill>
                  <a:srgbClr val="0B192C"/>
                </a:solidFill>
                <a:latin typeface="Calibri"/>
              </a:defRPr>
            </a:pPr>
            <a:r>
              <a:t>•   Visible takeaway: Buy-and-hold earned more total return on all three stocks.</a:t>
            </a:r>
          </a:p>
          <a:p>
            <a:pPr>
              <a:defRPr sz="2100" b="0">
                <a:solidFill>
                  <a:srgbClr val="0B192C"/>
                </a:solidFill>
                <a:latin typeface="Calibri"/>
              </a:defRPr>
            </a:pPr>
            <a:r>
              <a:t>•   Defensive benefit: Hybrid maximum drawdown was lower in 17 of 18 annual stock comparisons.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731520"/>
            <a:ext cx="9997135" cy="1188720"/>
          </a:xfrm>
          <a:prstGeom prst="rect">
            <a:avLst/>
          </a:prstGeom>
          <a:noFill/>
        </p:spPr>
        <p:txBody>
          <a:bodyPr wrap="square" lIns="0" tIns="0" rIns="0" bIns="0">
            <a:spAutoFit/>
          </a:bodyPr>
          <a:lstStyle/>
          <a:p>
            <a:pPr>
              <a:spcAft>
                <a:spcPts val="400"/>
              </a:spcAft>
              <a:defRPr sz="1300" b="1">
                <a:solidFill>
                  <a:srgbClr val="1B4965"/>
                </a:solidFill>
                <a:latin typeface="Calibri"/>
              </a:defRPr>
            </a:pPr>
            <a:r>
              <a:t>EVOLUTIONARY MARKET LAB COCKPIT</a:t>
            </a:r>
          </a:p>
          <a:p>
            <a:pPr>
              <a:defRPr sz="3600" b="1">
                <a:solidFill>
                  <a:srgbClr val="0B192C"/>
                </a:solidFill>
                <a:latin typeface="Calibri"/>
              </a:defRPr>
            </a:pPr>
            <a:r>
              <a:t>Using the Dashboard</a:t>
            </a:r>
          </a:p>
        </p:txBody>
      </p:sp>
      <p:sp>
        <p:nvSpPr>
          <p:cNvPr id="3" name="TextBox 2"/>
          <p:cNvSpPr txBox="1"/>
          <p:nvPr/>
        </p:nvSpPr>
        <p:spPr>
          <a:xfrm>
            <a:off x="1097280" y="2011680"/>
            <a:ext cx="9997135" cy="4297680"/>
          </a:xfrm>
          <a:prstGeom prst="rect">
            <a:avLst/>
          </a:prstGeom>
          <a:noFill/>
        </p:spPr>
        <p:txBody>
          <a:bodyPr wrap="square" lIns="0" tIns="0">
            <a:spAutoFit/>
          </a:bodyPr>
          <a:lstStyle/>
          <a:p>
            <a:pPr>
              <a:spcAft>
                <a:spcPts val="1400"/>
              </a:spcAft>
              <a:defRPr sz="2300">
                <a:solidFill>
                  <a:srgbClr val="0B192C"/>
                </a:solidFill>
                <a:latin typeface="Calibri"/>
              </a:defRPr>
            </a:pPr>
            <a:r>
              <a:t>1.  Select a stock or asset from the sidebar.</a:t>
            </a:r>
          </a:p>
          <a:p>
            <a:pPr>
              <a:spcAft>
                <a:spcPts val="1400"/>
              </a:spcAft>
              <a:defRPr sz="2300">
                <a:solidFill>
                  <a:srgbClr val="0B192C"/>
                </a:solidFill>
                <a:latin typeface="Calibri"/>
              </a:defRPr>
            </a:pPr>
            <a:r>
              <a:t>2.  Set Candidate Population to 40, Improvement Rounds to 15, and Random Seed to 42.</a:t>
            </a:r>
          </a:p>
          <a:p>
            <a:pPr>
              <a:spcAft>
                <a:spcPts val="1400"/>
              </a:spcAft>
              <a:defRPr sz="2300">
                <a:solidFill>
                  <a:srgbClr val="0B192C"/>
                </a:solidFill>
                <a:latin typeface="Calibri"/>
              </a:defRPr>
            </a:pPr>
            <a:r>
              <a:t>3.  Click the Run Experiment button.</a:t>
            </a:r>
          </a:p>
          <a:p>
            <a:pPr>
              <a:spcAft>
                <a:spcPts val="1400"/>
              </a:spcAft>
              <a:defRPr sz="2300">
                <a:solidFill>
                  <a:srgbClr val="0B192C"/>
                </a:solidFill>
                <a:latin typeface="Calibri"/>
              </a:defRPr>
            </a:pPr>
            <a:r>
              <a:t>4.  Inspect performance KPIs, Pareto frontier strategies, and simulated trade logs.</a:t>
            </a:r>
          </a:p>
          <a:p>
            <a:pPr>
              <a:spcAft>
                <a:spcPts val="800"/>
              </a:spcAft>
              <a:defRPr sz="1800">
                <a:solidFill>
                  <a:srgbClr val="1B4965"/>
                </a:solidFill>
                <a:latin typeface="Calibri"/>
              </a:defRPr>
            </a:pPr>
            <a:r>
              <a:t>Key Parameter Definitions:</a:t>
            </a:r>
            <a:br/>
            <a:r>
              <a:t>Population = Candidate rules  •  Generations = Improvement rounds  •  Seed = Repeatable randomness</a:t>
            </a:r>
          </a:p>
          <a:p>
            <a:pPr>
              <a:defRPr sz="1600" i="1">
                <a:solidFill>
                  <a:srgbClr val="415A77"/>
                </a:solidFill>
                <a:latin typeface="Calibri"/>
              </a:defRPr>
            </a:pPr>
            <a:r>
              <a:t>Note: Interactive dashboard executes a single chronological split for real-time exploration (separate from 6-year rolling research).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731520"/>
            <a:ext cx="9997135" cy="1188720"/>
          </a:xfrm>
          <a:prstGeom prst="rect">
            <a:avLst/>
          </a:prstGeom>
          <a:noFill/>
        </p:spPr>
        <p:txBody>
          <a:bodyPr wrap="square" lIns="0" tIns="0" rIns="0" bIns="0">
            <a:spAutoFit/>
          </a:bodyPr>
          <a:lstStyle/>
          <a:p>
            <a:pPr>
              <a:spcAft>
                <a:spcPts val="400"/>
              </a:spcAft>
              <a:defRPr sz="1300" b="1">
                <a:solidFill>
                  <a:srgbClr val="1B4965"/>
                </a:solidFill>
                <a:latin typeface="Calibri"/>
              </a:defRPr>
            </a:pPr>
            <a:r>
              <a:t>SUMMARY &amp; FUTURE WORK</a:t>
            </a:r>
          </a:p>
          <a:p>
            <a:pPr>
              <a:defRPr sz="3600" b="1">
                <a:solidFill>
                  <a:srgbClr val="0B192C"/>
                </a:solidFill>
                <a:latin typeface="Calibri"/>
              </a:defRPr>
            </a:pPr>
            <a:r>
              <a:t>Conclusion and Next Steps</a:t>
            </a:r>
          </a:p>
        </p:txBody>
      </p:sp>
      <p:sp>
        <p:nvSpPr>
          <p:cNvPr id="3" name="TextBox 2"/>
          <p:cNvSpPr txBox="1"/>
          <p:nvPr/>
        </p:nvSpPr>
        <p:spPr>
          <a:xfrm>
            <a:off x="1097280" y="2103120"/>
            <a:ext cx="9997135" cy="4114800"/>
          </a:xfrm>
          <a:prstGeom prst="rect">
            <a:avLst/>
          </a:prstGeom>
          <a:noFill/>
        </p:spPr>
        <p:txBody>
          <a:bodyPr wrap="square" lIns="0" tIns="0">
            <a:spAutoFit/>
          </a:bodyPr>
          <a:lstStyle/>
          <a:p>
            <a:pPr>
              <a:spcAft>
                <a:spcPts val="2400"/>
              </a:spcAft>
              <a:defRPr sz="2400">
                <a:solidFill>
                  <a:srgbClr val="0B192C"/>
                </a:solidFill>
                <a:latin typeface="Calibri"/>
              </a:defRPr>
            </a:pPr>
            <a:r>
              <a:t>•   Built an end-to-end prediction and strategy research tool.</a:t>
            </a:r>
          </a:p>
          <a:p>
            <a:pPr>
              <a:spcAft>
                <a:spcPts val="2400"/>
              </a:spcAft>
              <a:defRPr sz="2400">
                <a:solidFill>
                  <a:srgbClr val="0B192C"/>
                </a:solidFill>
                <a:latin typeface="Calibri"/>
              </a:defRPr>
            </a:pPr>
            <a:r>
              <a:t>•   Observed risk-return trade-offs: lower drawdowns, but lower total return than buy-and-hold in this study.</a:t>
            </a:r>
          </a:p>
          <a:p>
            <a:pPr>
              <a:spcAft>
                <a:spcPts val="2400"/>
              </a:spcAft>
              <a:defRPr sz="2400">
                <a:solidFill>
                  <a:srgbClr val="0B192C"/>
                </a:solidFill>
                <a:latin typeface="Calibri"/>
              </a:defRPr>
            </a:pPr>
            <a:r>
              <a:t>•   Next steps: evaluate broader stock universes and incorporate richer macroeconomic features.</a:t>
            </a:r>
          </a:p>
          <a:p>
            <a:pPr>
              <a:defRPr sz="2800" b="1">
                <a:solidFill>
                  <a:srgbClr val="1B4965"/>
                </a:solidFill>
                <a:latin typeface="Calibri"/>
              </a:defRPr>
            </a:pPr>
            <a:r>
              <a:t>Thank you for your time  —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