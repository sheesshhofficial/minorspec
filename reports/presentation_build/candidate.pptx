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7b715edcc340e2" /><Relationship Type="http://schemas.openxmlformats.org/officeDocument/2006/relationships/extended-properties" Target="/docProps/app.xml" Id="R5a70c03d14724e72" /><Relationship Type="http://schemas.openxmlformats.org/officeDocument/2006/relationships/officeDocument" Target="/ppt/presentation.xml" Id="R23c92ac3b8874acd" /></Relationships>
</file>

<file path=ppt/presentation.xml><?xml version="1.0" encoding="utf-8"?>
<p:presentation xmlns:p="http://schemas.openxmlformats.org/presentationml/2006/main">
  <p:sldMasterIdLst>
    <p:sldMasterId xmlns:r="http://schemas.openxmlformats.org/officeDocument/2006/relationships" id="2147483648" r:id="R74e41dd7c17e4149"/>
  </p:sldMasterIdLst>
  <p:notesMasterIdLst>
    <p:notesMasterId xmlns:r="http://schemas.openxmlformats.org/officeDocument/2006/relationships" r:id="R38f0db543c7b4a9d"/>
  </p:notesMasterIdLst>
  <p:sldIdLst>
    <p:sldId xmlns:r="http://schemas.openxmlformats.org/officeDocument/2006/relationships" id="256" r:id="R69190f0e9e0b4132"/>
    <p:sldId xmlns:r="http://schemas.openxmlformats.org/officeDocument/2006/relationships" id="257" r:id="R2778738c7703467a"/>
    <p:sldId xmlns:r="http://schemas.openxmlformats.org/officeDocument/2006/relationships" id="258" r:id="R5a904a083d0649f1"/>
    <p:sldId xmlns:r="http://schemas.openxmlformats.org/officeDocument/2006/relationships" id="259" r:id="Rdd72e2469eab4c89"/>
    <p:sldId xmlns:r="http://schemas.openxmlformats.org/officeDocument/2006/relationships" id="260" r:id="R0ababed1b62e4a8f"/>
    <p:sldId xmlns:r="http://schemas.openxmlformats.org/officeDocument/2006/relationships" id="261" r:id="Rebaced6c0c514454"/>
    <p:sldId xmlns:r="http://schemas.openxmlformats.org/officeDocument/2006/relationships" id="262" r:id="Rb6f5015120c24aec"/>
    <p:sldId xmlns:r="http://schemas.openxmlformats.org/officeDocument/2006/relationships" id="263" r:id="Rff8d42a43a4b45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d4fcdb1b5144ad" /><Relationship Type="http://schemas.openxmlformats.org/officeDocument/2006/relationships/slideMaster" Target="/ppt/slideMasters/slideMaster1.xml" Id="R74e41dd7c17e4149" /><Relationship Type="http://schemas.openxmlformats.org/officeDocument/2006/relationships/notesMaster" Target="/ppt/notesMasters/notesMaster1.xml" Id="R38f0db543c7b4a9d" /><Relationship Type="http://schemas.openxmlformats.org/officeDocument/2006/relationships/presProps" Target="/ppt/presProps.xml" Id="R680fca9a212749c6" /><Relationship Type="http://schemas.openxmlformats.org/officeDocument/2006/relationships/tableStyles" Target="/ppt/tableStyles.xml" Id="R2c7d3ee43b6a41a3" /><Relationship Type="http://schemas.openxmlformats.org/officeDocument/2006/relationships/slide" Target="/ppt/slides/slide1.xml" Id="R69190f0e9e0b4132" /><Relationship Type="http://schemas.openxmlformats.org/officeDocument/2006/relationships/slide" Target="/ppt/slides/slide2.xml" Id="R2778738c7703467a" /><Relationship Type="http://schemas.openxmlformats.org/officeDocument/2006/relationships/slide" Target="/ppt/slides/slide3.xml" Id="R5a904a083d0649f1" /><Relationship Type="http://schemas.openxmlformats.org/officeDocument/2006/relationships/slide" Target="/ppt/slides/slide4.xml" Id="Rdd72e2469eab4c89" /><Relationship Type="http://schemas.openxmlformats.org/officeDocument/2006/relationships/slide" Target="/ppt/slides/slide5.xml" Id="R0ababed1b62e4a8f" /><Relationship Type="http://schemas.openxmlformats.org/officeDocument/2006/relationships/slide" Target="/ppt/slides/slide6.xml" Id="Rebaced6c0c514454" /><Relationship Type="http://schemas.openxmlformats.org/officeDocument/2006/relationships/slide" Target="/ppt/slides/slide7.xml" Id="Rb6f5015120c24aec" /><Relationship Type="http://schemas.openxmlformats.org/officeDocument/2006/relationships/slide" Target="/ppt/slides/slide8.xml" Id="Rff8d42a43a4b45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23518c075d41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d7ee0269174735" /><Relationship Type="http://schemas.openxmlformats.org/officeDocument/2006/relationships/notesMaster" Target="/ppt/notesMasters/notesMaster1.xml" Id="R263d3d05f64949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01654bdd4d4bd8" /><Relationship Type="http://schemas.openxmlformats.org/officeDocument/2006/relationships/notesMaster" Target="/ppt/notesMasters/notesMaster1.xml" Id="Rad1bd5d330fc46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885a9e40a94d7d" /><Relationship Type="http://schemas.openxmlformats.org/officeDocument/2006/relationships/notesMaster" Target="/ppt/notesMasters/notesMaster1.xml" Id="R3ebf2d78d37a41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4752343b7b40d8" /><Relationship Type="http://schemas.openxmlformats.org/officeDocument/2006/relationships/notesMaster" Target="/ppt/notesMasters/notesMaster1.xml" Id="R29d9c3fa3af04f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45eab18bb44d7b" /><Relationship Type="http://schemas.openxmlformats.org/officeDocument/2006/relationships/notesMaster" Target="/ppt/notesMasters/notesMaster1.xml" Id="R9f859c2b32924b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871f001a854074" /><Relationship Type="http://schemas.openxmlformats.org/officeDocument/2006/relationships/notesMaster" Target="/ppt/notesMasters/notesMaster1.xml" Id="R71f7a65d90b74c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9eaaa33abb4185" /><Relationship Type="http://schemas.openxmlformats.org/officeDocument/2006/relationships/notesMaster" Target="/ppt/notesMasters/notesMaster1.xml" Id="R053f5329b1b643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0c47c26fb947b4" /><Relationship Type="http://schemas.openxmlformats.org/officeDocument/2006/relationships/notesMaster" Target="/ppt/notesMasters/notesMaster1.xml" Id="Rf35a96bd35fb41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Ashish Ranjan, Khuushi Maheshwari and Satyanarayan H. Our project combines machine learning with an evolutionary algorithm to study trading strategies for Indian stocks. I will explain the purpose, how the system works, what we found and how to use our dashboard. This is a research simulator using historical data.</a:t>
            </a:r>
          </a:p>
          <a:p xmlns:a="http://schemas.openxmlformats.org/drawingml/2006/main">
            <a:r>
              <a:t>Source: PROJECT.md.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Stock prices change for many reasons, so choosing trading rules is difficult. We use historical data to teach a model to recognize patterns. Then we search for rules that balance returns and risk. Finally, we test those rules on later data that the search did not use. The goal is to study the method honestly, including when it performs poorly.</a:t>
            </a:r>
          </a:p>
          <a:p xmlns:a="http://schemas.openxmlformats.org/drawingml/2006/main">
            <a:r>
              <a:t>Source: PROJECT.md and approved research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study three NSE stocks: Reliance, TCS and Infosys. The system reads daily price and volume data obtained through yfinance and stored as snapshots. It calculates twenty indicators, such as trend and momentum measures. Python runs the models and simulator, while Streamlit displays the results. The research test years are 2020 to 2025, with earlier historical data used for training.</a:t>
            </a:r>
          </a:p>
          <a:p xmlns:a="http://schemas.openxmlformats.org/drawingml/2006/main">
            <a:r>
              <a:t>Sources: PROJECT.md; reports/experiments/results/protocol.json.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we collect historical prices and calculate indicators. LightGBM uses those indicators to estimate the chance of an upward move over the next three trading bars. NSGA-II then searches for entry, exit and risk settings. The simulator applies the resulting rules to later data and includes trading costs. The dashboard helps us inspect returns, losses and individual trades.</a:t>
            </a:r>
          </a:p>
          <a:p xmlns:a="http://schemas.openxmlformats.org/drawingml/2006/main">
            <a:r>
              <a:t>Sources: src/predictor.py; src/evolutionary_core.py; src/backtest_engine.py.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LightGBM learns from past examples and produces a probability estimate. It does not guarantee a future price movement. NSGA-II tries different trading rules and improves them over multiple rounds. It balances two objectives: Sharpe ratio and maximum drawdown. Sharpe describes return relative to variability. Drawdown is the largest fall from a previous portfolio peak. Different candidates offer different tradeoffs.</a:t>
            </a:r>
          </a:p>
          <a:p xmlns:a="http://schemas.openxmlformats.org/drawingml/2006/main">
            <a:r>
              <a:t>Sources: src/predictor.py; src/evolutionary_core.py.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archived rolling research results for 2020 to 2025, rather than values from a new dashboard run. The hybrid column is the median cumulative return across three random seeds. Buy-and-hold means holding the stock instead of following our trading rules. It earned more for all three stocks. Our system showed a risk-return tradeoff, so we cannot claim that it beat the market.</a:t>
            </a:r>
          </a:p>
          <a:p xmlns:a="http://schemas.openxmlformats.org/drawingml/2006/main">
            <a:r>
              <a:t>Source: reports/experiments/results/stitched_aggregate_metrics.csv. Hybrid rows hybrid_seed_42, hybrid_seed_43, hybrid_seed_44; median total_return multiplied by100. Benchmark buy_and_hold total_return multiplied by100.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a stock, such as Reliance. For a simple demonstration, use forty candidates, fifteen generations and random seed forty-two. Population means the number of candidate rule sets. Generations means how many rounds the optimizer improves them. The seed helps repeat its random choices. Click Run Experiment and inspect the results. This dashboard demonstration uses a single split, unlike the separate rolling research study.</a:t>
            </a:r>
          </a:p>
          <a:p xmlns:a="http://schemas.openxmlformats.org/drawingml/2006/main">
            <a:r>
              <a:t>Sources: app.py; src/pipeline.py. Demo40/15/42 versus rolling30/10 with GAseeds42/43/44. Model seed is fixed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 complete tool that connects data, prediction, strategy search and evaluation. Our results show why honest testing matters: the hybrid strategies earned less than buy-and-hold in this study. Future work can evaluate more stocks and investigate better predictive features, while keeping the evaluation on later unseen data. Thank you for listening. We are happy to explain the algorithms or demonstrate the dashboard.</a:t>
            </a:r>
          </a:p>
          <a:p xmlns:a="http://schemas.openxmlformats.org/drawingml/2006/main">
            <a:r>
              <a:t>Sources: PROJECT.md; reports/experiments/results/stitched_aggregate_metrics.csv. Future work is proposed, not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1ea8c4b8784b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1a4d1b557448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67707f7d6845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026954141542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65c5ab059fa4b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6b842b002844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E19B60-0059-49EE-B442-A85968369C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4E368A-47CB-44E6-9EEE-BEDC91CE30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FE255D-5396-42F5-981D-6E0C724611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3CF0E3-486C-4029-86D2-31997C77E2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7DCF5A-1966-4DB0-849B-D35CA50B8DD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D2D5C1-B620-450D-823C-1C54F6991C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C17544-A208-415D-83ED-FF91C97C47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92664B-EB03-4409-924B-05DC43E60D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B441F4-B340-45EA-A063-0D544DC033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EB8147-FA32-408B-ACB5-9664E04D16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69fea146a34f6c" /><Relationship Type="http://schemas.openxmlformats.org/officeDocument/2006/relationships/slideLayout" Target="/ppt/slideLayouts/slideLayout1.xml" Id="Ra0ed57ffe9404f1a" /><Relationship Type="http://schemas.openxmlformats.org/officeDocument/2006/relationships/slideLayout" Target="/ppt/slideLayouts/slideLayout2.xml" Id="Rbb969d8b36d0400e" /><Relationship Type="http://schemas.openxmlformats.org/officeDocument/2006/relationships/slideLayout" Target="/ppt/slideLayouts/slideLayout3.xml" Id="Rc10fe371857242c3" /><Relationship Type="http://schemas.openxmlformats.org/officeDocument/2006/relationships/slideLayout" Target="/ppt/slideLayouts/slideLayout4.xml" Id="Rab60a133813d4929" /><Relationship Type="http://schemas.openxmlformats.org/officeDocument/2006/relationships/slideLayout" Target="/ppt/slideLayouts/slideLayout5.xml" Id="Re0a6bc69550d408b" /><Relationship Type="http://schemas.openxmlformats.org/officeDocument/2006/relationships/slideLayout" Target="/ppt/slideLayouts/slideLayout6.xml" Id="R54d61c9d263143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ed57ffe9404f1a"/>
    <p:sldLayoutId xmlns:r="http://schemas.openxmlformats.org/officeDocument/2006/relationships" id="2147483650" r:id="Rbb969d8b36d0400e"/>
    <p:sldLayoutId xmlns:r="http://schemas.openxmlformats.org/officeDocument/2006/relationships" id="2147483651" r:id="Rc10fe371857242c3"/>
    <p:sldLayoutId xmlns:r="http://schemas.openxmlformats.org/officeDocument/2006/relationships" id="2147483652" r:id="Rab60a133813d4929"/>
    <p:sldLayoutId xmlns:r="http://schemas.openxmlformats.org/officeDocument/2006/relationships" id="2147483653" r:id="Re0a6bc69550d408b"/>
    <p:sldLayoutId xmlns:r="http://schemas.openxmlformats.org/officeDocument/2006/relationships" id="2147483654" r:id="R54d61c9d263143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8872642ba94226" /><Relationship Type="http://schemas.openxmlformats.org/officeDocument/2006/relationships/notesSlide" Target="/ppt/notesSlides/notesSlide1.xml" Id="Rd3d247e5f8114d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8eb45bbc944ef7" /><Relationship Type="http://schemas.openxmlformats.org/officeDocument/2006/relationships/notesSlide" Target="/ppt/notesSlides/notesSlide2.xml" Id="R8e617036435c45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0bfa06dcd445a6" /><Relationship Type="http://schemas.openxmlformats.org/officeDocument/2006/relationships/notesSlide" Target="/ppt/notesSlides/notesSlide3.xml" Id="R6e42f20246bd49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4cdd2e1e2404950" /><Relationship Type="http://schemas.openxmlformats.org/officeDocument/2006/relationships/notesSlide" Target="/ppt/notesSlides/notesSlide4.xml" Id="Rac66a0212cf14b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3a07d2c2804939" /><Relationship Type="http://schemas.openxmlformats.org/officeDocument/2006/relationships/notesSlide" Target="/ppt/notesSlides/notesSlide5.xml" Id="Rdc645f45ca584e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a1c043f1384eba" /><Relationship Type="http://schemas.openxmlformats.org/officeDocument/2006/relationships/notesSlide" Target="/ppt/notesSlides/notesSlide6.xml" Id="R8a66d9437cbb41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27f94f89e74af3" /><Relationship Type="http://schemas.openxmlformats.org/officeDocument/2006/relationships/notesSlide" Target="/ppt/notesSlides/notesSlide7.xml" Id="R85c4ddd1d1ef41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1f52d8cdad42ea" /><Relationship Type="http://schemas.openxmlformats.org/officeDocument/2006/relationships/notesSlide" Target="/ppt/notesSlides/notesSlide8.xml" Id="R6ba5ca2f8b53498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02C237-143B-474A-8F95-42FC450718F1}"/>
              </a:ext>
            </a:extLst>
          </p:cNvPr>
          <p:cNvSpPr>
            <a:spLocks xmlns:a="http://schemas.openxmlformats.org/drawingml/2006/main" noGrp="1"/>
          </p:cNvSpPr>
          <p:nvPr/>
        </p:nvSpPr>
        <p:spPr>
          <a:xfrm xmlns:a="http://schemas.openxmlformats.org/drawingml/2006/main">
            <a:off x="723900" y="619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2B4D"/>
                </a:solidFill>
              </a:defRPr>
            </a:defPPr>
          </a:lstStyle>
          <a:p xmlns:a="http://schemas.openxmlformats.org/drawingml/2006/main">
            <a:pPr>
              <a:defRPr sz="3450" b="1">
                <a:solidFill>
                  <a:srgbClr val="172B4D"/>
                </a:solidFill>
              </a:defRPr>
            </a:pPr>
            <a:r>
              <a:rPr sz="3450" b="1">
                <a:solidFill>
                  <a:srgbClr val="172B4D"/>
                </a:solidFill>
              </a:rPr>
              <a:t>Hybrid Market Predictor</a:t>
            </a:r>
          </a:p>
          <a:p xmlns:a="http://schemas.openxmlformats.org/drawingml/2006/main">
            <a:pPr>
              <a:defRPr sz="3450" b="1">
                <a:solidFill>
                  <a:srgbClr val="172B4D"/>
                </a:solidFill>
              </a:defRPr>
            </a:pPr>
            <a:r>
              <a:rPr sz="3450" b="1">
                <a:solidFill>
                  <a:srgbClr val="172B4D"/>
                </a:solidFill>
              </a:rPr>
              <a:t>&amp; Strategy Optimizer</a:t>
            </a:r>
          </a:p>
        </p:txBody>
      </p:sp>
      <p:sp>
        <p:nvSpPr>
          <p:cNvPr id="2" name="">
            <a:extLst xmlns:a="http://schemas.openxmlformats.org/drawingml/2006/main">
              <a:ext uri="{FF2B5EF4-FFF2-40B4-BE49-F238E27FC236}">
                <a16:creationId xmlns:a16="http://schemas.microsoft.com/office/drawing/2014/main" id="{AEC54AE8-09F5-415E-9104-BC5F85145E36}"/>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defRPr>
            </a:defPPr>
          </a:lstStyle>
          <a:p xmlns:a="http://schemas.openxmlformats.org/drawingml/2006/main">
            <a:pPr>
              <a:defRPr sz="1350" b="0">
                <a:solidFill>
                  <a:srgbClr val="64748B"/>
                </a:solidFill>
              </a:defRPr>
            </a:pPr>
            <a:r>
              <a:rPr sz="1350" b="0">
                <a:solidFill>
                  <a:srgbClr val="64748B"/>
                </a:solidFill>
              </a:rPr>
              <a:t>01</a:t>
            </a:r>
          </a:p>
        </p:txBody>
      </p:sp>
      <p:sp>
        <p:nvSpPr>
          <p:cNvPr id="3" name="">
            <a:extLst xmlns:a="http://schemas.openxmlformats.org/drawingml/2006/main">
              <a:ext uri="{FF2B5EF4-FFF2-40B4-BE49-F238E27FC236}">
                <a16:creationId xmlns:a16="http://schemas.microsoft.com/office/drawing/2014/main" id="{08EC6EA4-2184-4E77-A323-737496581F9C}"/>
              </a:ext>
            </a:extLst>
          </p:cNvPr>
          <p:cNvSpPr>
            <a:spLocks xmlns:a="http://schemas.openxmlformats.org/drawingml/2006/main" noGrp="1"/>
          </p:cNvSpPr>
          <p:nvPr/>
        </p:nvSpPr>
        <p:spPr>
          <a:xfrm xmlns:a="http://schemas.openxmlformats.org/drawingml/2006/main">
            <a:off x="742950" y="24288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79B8"/>
                </a:solidFill>
              </a:defRPr>
            </a:defPPr>
          </a:lstStyle>
          <a:p xmlns:a="http://schemas.openxmlformats.org/drawingml/2006/main">
            <a:pPr>
              <a:defRPr sz="2400" b="0">
                <a:solidFill>
                  <a:srgbClr val="1479B8"/>
                </a:solidFill>
              </a:defRPr>
            </a:pPr>
            <a:r>
              <a:rPr sz="2400" b="0">
                <a:solidFill>
                  <a:srgbClr val="1479B8"/>
                </a:solidFill>
              </a:rPr>
              <a:t>LightGBM and NSGA-II for Indian stocks</a:t>
            </a:r>
          </a:p>
        </p:txBody>
      </p:sp>
      <p:sp>
        <p:nvSpPr>
          <p:cNvPr id="4" name="">
            <a:extLst xmlns:a="http://schemas.openxmlformats.org/drawingml/2006/main">
              <a:ext uri="{FF2B5EF4-FFF2-40B4-BE49-F238E27FC236}">
                <a16:creationId xmlns:a16="http://schemas.microsoft.com/office/drawing/2014/main" id="{4D245CF5-BA29-435D-9966-D41C623A90EE}"/>
              </a:ext>
            </a:extLst>
          </p:cNvPr>
          <p:cNvSpPr>
            <a:spLocks xmlns:a="http://schemas.openxmlformats.org/drawingml/2006/main" noGrp="1"/>
          </p:cNvSpPr>
          <p:nvPr/>
        </p:nvSpPr>
        <p:spPr>
          <a:xfrm xmlns:a="http://schemas.openxmlformats.org/drawingml/2006/main">
            <a:off x="742950" y="39528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B4D"/>
                </a:solidFill>
              </a:defRPr>
            </a:defPPr>
          </a:lstStyle>
          <a:p xmlns:a="http://schemas.openxmlformats.org/drawingml/2006/main">
            <a:pPr>
              <a:defRPr sz="2025" b="0">
                <a:solidFill>
                  <a:srgbClr val="172B4D"/>
                </a:solidFill>
              </a:defRPr>
            </a:pPr>
            <a:r>
              <a:rPr sz="2025" b="0">
                <a:solidFill>
                  <a:srgbClr val="172B4D"/>
                </a:solidFill>
              </a:rPr>
              <a:t>Ashish Ranjan   /   Khuushi Maheshwari   /   Satyanarayan H.</a:t>
            </a:r>
          </a:p>
        </p:txBody>
      </p:sp>
      <p:sp>
        <p:nvSpPr>
          <p:cNvPr id="5" name="">
            <a:extLst xmlns:a="http://schemas.openxmlformats.org/drawingml/2006/main">
              <a:ext uri="{FF2B5EF4-FFF2-40B4-BE49-F238E27FC236}">
                <a16:creationId xmlns:a16="http://schemas.microsoft.com/office/drawing/2014/main" id="{0275391F-1E13-45F4-A762-2BB6DBE6C98B}"/>
              </a:ext>
            </a:extLst>
          </p:cNvPr>
          <p:cNvSpPr>
            <a:spLocks xmlns:a="http://schemas.openxmlformats.org/drawingml/2006/main" noGrp="1"/>
          </p:cNvSpPr>
          <p:nvPr/>
        </p:nvSpPr>
        <p:spPr>
          <a:xfrm xmlns:a="http://schemas.openxmlformats.org/drawingml/2006/main">
            <a:off x="742950" y="50006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4748B"/>
                </a:solidFill>
              </a:defRPr>
            </a:defPPr>
          </a:lstStyle>
          <a:p xmlns:a="http://schemas.openxmlformats.org/drawingml/2006/main">
            <a:pPr>
              <a:defRPr sz="2025" b="0">
                <a:solidFill>
                  <a:srgbClr val="64748B"/>
                </a:solidFill>
              </a:defRPr>
            </a:pPr>
            <a:r>
              <a:rPr sz="2025" b="0">
                <a:solidFill>
                  <a:srgbClr val="64748B"/>
                </a:solidFill>
              </a:rPr>
              <a:t>Manipal Institute of Technology</a:t>
            </a:r>
          </a:p>
          <a:p xmlns:a="http://schemas.openxmlformats.org/drawingml/2006/main">
            <a:pPr>
              <a:defRPr sz="2025" b="0">
                <a:solidFill>
                  <a:srgbClr val="64748B"/>
                </a:solidFill>
              </a:defRPr>
            </a:pPr>
            <a:r>
              <a:rPr sz="2025" b="0">
                <a:solidFill>
                  <a:srgbClr val="64748B"/>
                </a:solidFill>
              </a:rPr>
              <a:t>B.Tech - Computer Science</a:t>
            </a:r>
          </a:p>
        </p:txBody>
      </p:sp>
    </p:spTree>
    <p:extLst>
      <p:ext uri="{BB962C8B-B14F-4D97-AF65-F5344CB8AC3E}">
        <p14:creationId xmlns:p14="http://schemas.microsoft.com/office/powerpoint/2010/main" val="1989917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14968F-328A-40A1-B99B-0707B3C6143B}"/>
              </a:ext>
            </a:extLst>
          </p:cNvPr>
          <p:cNvSpPr>
            <a:spLocks xmlns:a="http://schemas.openxmlformats.org/drawingml/2006/main" noGrp="1"/>
          </p:cNvSpPr>
          <p:nvPr/>
        </p:nvSpPr>
        <p:spPr>
          <a:xfrm xmlns:a="http://schemas.openxmlformats.org/drawingml/2006/main">
            <a:off x="723900" y="619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2B4D"/>
                </a:solidFill>
              </a:defRPr>
            </a:defPPr>
          </a:lstStyle>
          <a:p xmlns:a="http://schemas.openxmlformats.org/drawingml/2006/main">
            <a:pPr>
              <a:defRPr sz="3450" b="1">
                <a:solidFill>
                  <a:srgbClr val="172B4D"/>
                </a:solidFill>
              </a:defRPr>
            </a:pPr>
            <a:r>
              <a:rPr sz="3450" b="1">
                <a:solidFill>
                  <a:srgbClr val="172B4D"/>
                </a:solidFill>
              </a:rPr>
              <a:t>Project purpose</a:t>
            </a:r>
          </a:p>
        </p:txBody>
      </p:sp>
      <p:sp>
        <p:nvSpPr>
          <p:cNvPr id="2" name="">
            <a:extLst xmlns:a="http://schemas.openxmlformats.org/drawingml/2006/main">
              <a:ext uri="{FF2B5EF4-FFF2-40B4-BE49-F238E27FC236}">
                <a16:creationId xmlns:a16="http://schemas.microsoft.com/office/drawing/2014/main" id="{587CE72B-AE76-4202-B2F9-7B55AFC61AAB}"/>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defRPr>
            </a:defPPr>
          </a:lstStyle>
          <a:p xmlns:a="http://schemas.openxmlformats.org/drawingml/2006/main">
            <a:pPr>
              <a:defRPr sz="1350" b="0">
                <a:solidFill>
                  <a:srgbClr val="64748B"/>
                </a:solidFill>
              </a:defRPr>
            </a:pPr>
            <a:r>
              <a:rPr sz="1350" b="0">
                <a:solidFill>
                  <a:srgbClr val="64748B"/>
                </a:solidFill>
              </a:rPr>
              <a:t>02</a:t>
            </a:r>
          </a:p>
        </p:txBody>
      </p:sp>
      <p:sp>
        <p:nvSpPr>
          <p:cNvPr id="3" name="">
            <a:extLst xmlns:a="http://schemas.openxmlformats.org/drawingml/2006/main">
              <a:ext uri="{FF2B5EF4-FFF2-40B4-BE49-F238E27FC236}">
                <a16:creationId xmlns:a16="http://schemas.microsoft.com/office/drawing/2014/main" id="{2A796DF7-6CA5-40F6-98E9-BEC3A2F9A9AF}"/>
              </a:ext>
            </a:extLst>
          </p:cNvPr>
          <p:cNvSpPr>
            <a:spLocks xmlns:a="http://schemas.openxmlformats.org/drawingml/2006/main" noGrp="1"/>
          </p:cNvSpPr>
          <p:nvPr/>
        </p:nvSpPr>
        <p:spPr>
          <a:xfrm xmlns:a="http://schemas.openxmlformats.org/drawingml/2006/main">
            <a:off x="742950" y="2047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01</a:t>
            </a:r>
          </a:p>
        </p:txBody>
      </p:sp>
      <p:sp>
        <p:nvSpPr>
          <p:cNvPr id="4" name="">
            <a:extLst xmlns:a="http://schemas.openxmlformats.org/drawingml/2006/main">
              <a:ext uri="{FF2B5EF4-FFF2-40B4-BE49-F238E27FC236}">
                <a16:creationId xmlns:a16="http://schemas.microsoft.com/office/drawing/2014/main" id="{3E11D86B-DB07-4E44-9CF0-7ED0147014AE}"/>
              </a:ext>
            </a:extLst>
          </p:cNvPr>
          <p:cNvSpPr>
            <a:spLocks xmlns:a="http://schemas.openxmlformats.org/drawingml/2006/main" noGrp="1"/>
          </p:cNvSpPr>
          <p:nvPr/>
        </p:nvSpPr>
        <p:spPr>
          <a:xfrm xmlns:a="http://schemas.openxmlformats.org/drawingml/2006/main">
            <a:off x="1524000" y="204787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Learn patterns in historical stock data</a:t>
            </a:r>
          </a:p>
        </p:txBody>
      </p:sp>
      <p:sp>
        <p:nvSpPr>
          <p:cNvPr id="5" name="">
            <a:extLst xmlns:a="http://schemas.openxmlformats.org/drawingml/2006/main">
              <a:ext uri="{FF2B5EF4-FFF2-40B4-BE49-F238E27FC236}">
                <a16:creationId xmlns:a16="http://schemas.microsoft.com/office/drawing/2014/main" id="{6F04103E-7369-418C-AE9A-EF7D0539B837}"/>
              </a:ext>
            </a:extLst>
          </p:cNvPr>
          <p:cNvSpPr>
            <a:spLocks xmlns:a="http://schemas.openxmlformats.org/drawingml/2006/main" noGrp="1"/>
          </p:cNvSpPr>
          <p:nvPr/>
        </p:nvSpPr>
        <p:spPr>
          <a:xfrm xmlns:a="http://schemas.openxmlformats.org/drawingml/2006/main">
            <a:off x="742950" y="30003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02</a:t>
            </a:r>
          </a:p>
        </p:txBody>
      </p:sp>
      <p:sp>
        <p:nvSpPr>
          <p:cNvPr id="6" name="">
            <a:extLst xmlns:a="http://schemas.openxmlformats.org/drawingml/2006/main">
              <a:ext uri="{FF2B5EF4-FFF2-40B4-BE49-F238E27FC236}">
                <a16:creationId xmlns:a16="http://schemas.microsoft.com/office/drawing/2014/main" id="{A1A6D6E2-497D-4BEB-9DDA-15FB0EE55A2F}"/>
              </a:ext>
            </a:extLst>
          </p:cNvPr>
          <p:cNvSpPr>
            <a:spLocks xmlns:a="http://schemas.openxmlformats.org/drawingml/2006/main" noGrp="1"/>
          </p:cNvSpPr>
          <p:nvPr/>
        </p:nvSpPr>
        <p:spPr>
          <a:xfrm xmlns:a="http://schemas.openxmlformats.org/drawingml/2006/main">
            <a:off x="1524000" y="300037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Find trading rules that balance return and risk</a:t>
            </a:r>
          </a:p>
        </p:txBody>
      </p:sp>
      <p:sp>
        <p:nvSpPr>
          <p:cNvPr id="7" name="">
            <a:extLst xmlns:a="http://schemas.openxmlformats.org/drawingml/2006/main">
              <a:ext uri="{FF2B5EF4-FFF2-40B4-BE49-F238E27FC236}">
                <a16:creationId xmlns:a16="http://schemas.microsoft.com/office/drawing/2014/main" id="{DD5F6B0D-ABA2-4BA3-8570-8D671373FEC2}"/>
              </a:ext>
            </a:extLst>
          </p:cNvPr>
          <p:cNvSpPr>
            <a:spLocks xmlns:a="http://schemas.openxmlformats.org/drawingml/2006/main" noGrp="1"/>
          </p:cNvSpPr>
          <p:nvPr/>
        </p:nvSpPr>
        <p:spPr>
          <a:xfrm xmlns:a="http://schemas.openxmlformats.org/drawingml/2006/main">
            <a:off x="742950" y="3952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03</a:t>
            </a:r>
          </a:p>
        </p:txBody>
      </p:sp>
      <p:sp>
        <p:nvSpPr>
          <p:cNvPr id="8" name="">
            <a:extLst xmlns:a="http://schemas.openxmlformats.org/drawingml/2006/main">
              <a:ext uri="{FF2B5EF4-FFF2-40B4-BE49-F238E27FC236}">
                <a16:creationId xmlns:a16="http://schemas.microsoft.com/office/drawing/2014/main" id="{CEAA7564-0940-4D9E-8931-F8BCD504352F}"/>
              </a:ext>
            </a:extLst>
          </p:cNvPr>
          <p:cNvSpPr>
            <a:spLocks xmlns:a="http://schemas.openxmlformats.org/drawingml/2006/main" noGrp="1"/>
          </p:cNvSpPr>
          <p:nvPr/>
        </p:nvSpPr>
        <p:spPr>
          <a:xfrm xmlns:a="http://schemas.openxmlformats.org/drawingml/2006/main">
            <a:off x="1524000" y="395287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Test the rules on later, unseen data</a:t>
            </a:r>
          </a:p>
        </p:txBody>
      </p:sp>
      <p:sp>
        <p:nvSpPr>
          <p:cNvPr id="9" name="">
            <a:extLst xmlns:a="http://schemas.openxmlformats.org/drawingml/2006/main">
              <a:ext uri="{FF2B5EF4-FFF2-40B4-BE49-F238E27FC236}">
                <a16:creationId xmlns:a16="http://schemas.microsoft.com/office/drawing/2014/main" id="{44D003E7-BA82-48C3-8EAD-5F76468B44C2}"/>
              </a:ext>
            </a:extLst>
          </p:cNvPr>
          <p:cNvSpPr>
            <a:spLocks xmlns:a="http://schemas.openxmlformats.org/drawingml/2006/main" noGrp="1"/>
          </p:cNvSpPr>
          <p:nvPr/>
        </p:nvSpPr>
        <p:spPr>
          <a:xfrm xmlns:a="http://schemas.openxmlformats.org/drawingml/2006/main">
            <a:off x="1524000" y="528637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4748B"/>
                </a:solidFill>
              </a:defRPr>
            </a:defPPr>
          </a:lstStyle>
          <a:p xmlns:a="http://schemas.openxmlformats.org/drawingml/2006/main">
            <a:pPr>
              <a:defRPr sz="1875" b="0">
                <a:solidFill>
                  <a:srgbClr val="64748B"/>
                </a:solidFill>
              </a:defRPr>
            </a:pPr>
            <a:r>
              <a:rPr sz="1875" b="0">
                <a:solidFill>
                  <a:srgbClr val="64748B"/>
                </a:solidFill>
              </a:rPr>
              <a:t>A research simulator using historical prices</a:t>
            </a:r>
          </a:p>
        </p:txBody>
      </p:sp>
    </p:spTree>
    <p:extLst>
      <p:ext uri="{BB962C8B-B14F-4D97-AF65-F5344CB8AC3E}">
        <p14:creationId xmlns:p14="http://schemas.microsoft.com/office/powerpoint/2010/main" val="9844823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C10BA0-6D84-4C06-BC3C-B06F51C1F1D3}"/>
              </a:ext>
            </a:extLst>
          </p:cNvPr>
          <p:cNvSpPr>
            <a:spLocks xmlns:a="http://schemas.openxmlformats.org/drawingml/2006/main" noGrp="1"/>
          </p:cNvSpPr>
          <p:nvPr/>
        </p:nvSpPr>
        <p:spPr>
          <a:xfrm xmlns:a="http://schemas.openxmlformats.org/drawingml/2006/main">
            <a:off x="723900" y="619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2B4D"/>
                </a:solidFill>
              </a:defRPr>
            </a:defPPr>
          </a:lstStyle>
          <a:p xmlns:a="http://schemas.openxmlformats.org/drawingml/2006/main">
            <a:pPr>
              <a:defRPr sz="3450" b="1">
                <a:solidFill>
                  <a:srgbClr val="172B4D"/>
                </a:solidFill>
              </a:defRPr>
            </a:pPr>
            <a:r>
              <a:rPr sz="3450" b="1">
                <a:solidFill>
                  <a:srgbClr val="172B4D"/>
                </a:solidFill>
              </a:rPr>
              <a:t>Data and tools</a:t>
            </a:r>
          </a:p>
        </p:txBody>
      </p:sp>
      <p:sp>
        <p:nvSpPr>
          <p:cNvPr id="2" name="">
            <a:extLst xmlns:a="http://schemas.openxmlformats.org/drawingml/2006/main">
              <a:ext uri="{FF2B5EF4-FFF2-40B4-BE49-F238E27FC236}">
                <a16:creationId xmlns:a16="http://schemas.microsoft.com/office/drawing/2014/main" id="{0EC990EE-357E-429B-88B0-322F8FA943A9}"/>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defRPr>
            </a:defPPr>
          </a:lstStyle>
          <a:p xmlns:a="http://schemas.openxmlformats.org/drawingml/2006/main">
            <a:pPr>
              <a:defRPr sz="1350" b="0">
                <a:solidFill>
                  <a:srgbClr val="64748B"/>
                </a:solidFill>
              </a:defRPr>
            </a:pPr>
            <a:r>
              <a:rPr sz="1350" b="0">
                <a:solidFill>
                  <a:srgbClr val="64748B"/>
                </a:solidFill>
              </a:rPr>
              <a:t>03</a:t>
            </a:r>
          </a:p>
        </p:txBody>
      </p:sp>
      <p:sp>
        <p:nvSpPr>
          <p:cNvPr id="3" name="">
            <a:extLst xmlns:a="http://schemas.openxmlformats.org/drawingml/2006/main">
              <a:ext uri="{FF2B5EF4-FFF2-40B4-BE49-F238E27FC236}">
                <a16:creationId xmlns:a16="http://schemas.microsoft.com/office/drawing/2014/main" id="{DFBD8202-AC9E-43A2-ADDF-6E64F1F1668A}"/>
              </a:ext>
            </a:extLst>
          </p:cNvPr>
          <p:cNvSpPr>
            <a:spLocks xmlns:a="http://schemas.openxmlformats.org/drawingml/2006/main" noGrp="1"/>
          </p:cNvSpPr>
          <p:nvPr/>
        </p:nvSpPr>
        <p:spPr>
          <a:xfrm xmlns:a="http://schemas.openxmlformats.org/drawingml/2006/main">
            <a:off x="742950" y="19050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01</a:t>
            </a:r>
          </a:p>
        </p:txBody>
      </p:sp>
      <p:sp>
        <p:nvSpPr>
          <p:cNvPr id="4" name="">
            <a:extLst xmlns:a="http://schemas.openxmlformats.org/drawingml/2006/main">
              <a:ext uri="{FF2B5EF4-FFF2-40B4-BE49-F238E27FC236}">
                <a16:creationId xmlns:a16="http://schemas.microsoft.com/office/drawing/2014/main" id="{F71A7C66-82FD-48B9-B358-7FFD8013C1BF}"/>
              </a:ext>
            </a:extLst>
          </p:cNvPr>
          <p:cNvSpPr>
            <a:spLocks xmlns:a="http://schemas.openxmlformats.org/drawingml/2006/main" noGrp="1"/>
          </p:cNvSpPr>
          <p:nvPr/>
        </p:nvSpPr>
        <p:spPr>
          <a:xfrm xmlns:a="http://schemas.openxmlformats.org/drawingml/2006/main">
            <a:off x="1524000" y="19050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NSE stocks: Reliance, TCS and Infosys</a:t>
            </a:r>
          </a:p>
        </p:txBody>
      </p:sp>
      <p:sp>
        <p:nvSpPr>
          <p:cNvPr id="5" name="">
            <a:extLst xmlns:a="http://schemas.openxmlformats.org/drawingml/2006/main">
              <a:ext uri="{FF2B5EF4-FFF2-40B4-BE49-F238E27FC236}">
                <a16:creationId xmlns:a16="http://schemas.microsoft.com/office/drawing/2014/main" id="{146B7D10-A1F1-42DB-B623-D1366172F6D3}"/>
              </a:ext>
            </a:extLst>
          </p:cNvPr>
          <p:cNvSpPr>
            <a:spLocks xmlns:a="http://schemas.openxmlformats.org/drawingml/2006/main" noGrp="1"/>
          </p:cNvSpPr>
          <p:nvPr/>
        </p:nvSpPr>
        <p:spPr>
          <a:xfrm xmlns:a="http://schemas.openxmlformats.org/drawingml/2006/main">
            <a:off x="742950" y="2809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02</a:t>
            </a:r>
          </a:p>
        </p:txBody>
      </p:sp>
      <p:sp>
        <p:nvSpPr>
          <p:cNvPr id="6" name="">
            <a:extLst xmlns:a="http://schemas.openxmlformats.org/drawingml/2006/main">
              <a:ext uri="{FF2B5EF4-FFF2-40B4-BE49-F238E27FC236}">
                <a16:creationId xmlns:a16="http://schemas.microsoft.com/office/drawing/2014/main" id="{9541E633-F506-47BB-91D4-32B4CA59259E}"/>
              </a:ext>
            </a:extLst>
          </p:cNvPr>
          <p:cNvSpPr>
            <a:spLocks xmlns:a="http://schemas.openxmlformats.org/drawingml/2006/main" noGrp="1"/>
          </p:cNvSpPr>
          <p:nvPr/>
        </p:nvSpPr>
        <p:spPr>
          <a:xfrm xmlns:a="http://schemas.openxmlformats.org/drawingml/2006/main">
            <a:off x="1524000" y="280987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Daily prices and volume, saved as data snapshots</a:t>
            </a:r>
          </a:p>
        </p:txBody>
      </p:sp>
      <p:sp>
        <p:nvSpPr>
          <p:cNvPr id="7" name="">
            <a:extLst xmlns:a="http://schemas.openxmlformats.org/drawingml/2006/main">
              <a:ext uri="{FF2B5EF4-FFF2-40B4-BE49-F238E27FC236}">
                <a16:creationId xmlns:a16="http://schemas.microsoft.com/office/drawing/2014/main" id="{D5A36734-04DD-4043-9E14-5C098CE8F0C9}"/>
              </a:ext>
            </a:extLst>
          </p:cNvPr>
          <p:cNvSpPr>
            <a:spLocks xmlns:a="http://schemas.openxmlformats.org/drawingml/2006/main" noGrp="1"/>
          </p:cNvSpPr>
          <p:nvPr/>
        </p:nvSpPr>
        <p:spPr>
          <a:xfrm xmlns:a="http://schemas.openxmlformats.org/drawingml/2006/main">
            <a:off x="74295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03</a:t>
            </a:r>
          </a:p>
        </p:txBody>
      </p:sp>
      <p:sp>
        <p:nvSpPr>
          <p:cNvPr id="8" name="">
            <a:extLst xmlns:a="http://schemas.openxmlformats.org/drawingml/2006/main">
              <a:ext uri="{FF2B5EF4-FFF2-40B4-BE49-F238E27FC236}">
                <a16:creationId xmlns:a16="http://schemas.microsoft.com/office/drawing/2014/main" id="{60A8D307-8477-43F1-9813-3F8FAC39F422}"/>
              </a:ext>
            </a:extLst>
          </p:cNvPr>
          <p:cNvSpPr>
            <a:spLocks xmlns:a="http://schemas.openxmlformats.org/drawingml/2006/main" noGrp="1"/>
          </p:cNvSpPr>
          <p:nvPr/>
        </p:nvSpPr>
        <p:spPr>
          <a:xfrm xmlns:a="http://schemas.openxmlformats.org/drawingml/2006/main">
            <a:off x="1524000" y="371475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20 indicators describe price and volume patterns</a:t>
            </a:r>
          </a:p>
        </p:txBody>
      </p:sp>
      <p:sp>
        <p:nvSpPr>
          <p:cNvPr id="9" name="">
            <a:extLst xmlns:a="http://schemas.openxmlformats.org/drawingml/2006/main">
              <a:ext uri="{FF2B5EF4-FFF2-40B4-BE49-F238E27FC236}">
                <a16:creationId xmlns:a16="http://schemas.microsoft.com/office/drawing/2014/main" id="{970E3E2B-F02A-4A46-92F5-7D5B62E8AEE5}"/>
              </a:ext>
            </a:extLst>
          </p:cNvPr>
          <p:cNvSpPr>
            <a:spLocks xmlns:a="http://schemas.openxmlformats.org/drawingml/2006/main" noGrp="1"/>
          </p:cNvSpPr>
          <p:nvPr/>
        </p:nvSpPr>
        <p:spPr>
          <a:xfrm xmlns:a="http://schemas.openxmlformats.org/drawingml/2006/main">
            <a:off x="742950" y="4619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04</a:t>
            </a:r>
          </a:p>
        </p:txBody>
      </p:sp>
      <p:sp>
        <p:nvSpPr>
          <p:cNvPr id="10" name="">
            <a:extLst xmlns:a="http://schemas.openxmlformats.org/drawingml/2006/main">
              <a:ext uri="{FF2B5EF4-FFF2-40B4-BE49-F238E27FC236}">
                <a16:creationId xmlns:a16="http://schemas.microsoft.com/office/drawing/2014/main" id="{2EBF486C-8EE9-48FA-A5A8-7C8496C20330}"/>
              </a:ext>
            </a:extLst>
          </p:cNvPr>
          <p:cNvSpPr>
            <a:spLocks xmlns:a="http://schemas.openxmlformats.org/drawingml/2006/main" noGrp="1"/>
          </p:cNvSpPr>
          <p:nvPr/>
        </p:nvSpPr>
        <p:spPr>
          <a:xfrm xmlns:a="http://schemas.openxmlformats.org/drawingml/2006/main">
            <a:off x="1524000" y="461962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Python models with a Streamlit dashboard</a:t>
            </a:r>
          </a:p>
        </p:txBody>
      </p:sp>
    </p:spTree>
    <p:extLst>
      <p:ext uri="{BB962C8B-B14F-4D97-AF65-F5344CB8AC3E}">
        <p14:creationId xmlns:p14="http://schemas.microsoft.com/office/powerpoint/2010/main" val="10649536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D5CE00-B7B2-48B6-A2E5-F7FD15C8B7D9}"/>
              </a:ext>
            </a:extLst>
          </p:cNvPr>
          <p:cNvSpPr>
            <a:spLocks xmlns:a="http://schemas.openxmlformats.org/drawingml/2006/main" noGrp="1"/>
          </p:cNvSpPr>
          <p:nvPr/>
        </p:nvSpPr>
        <p:spPr>
          <a:xfrm xmlns:a="http://schemas.openxmlformats.org/drawingml/2006/main">
            <a:off x="723900" y="619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2B4D"/>
                </a:solidFill>
              </a:defRPr>
            </a:defPPr>
          </a:lstStyle>
          <a:p xmlns:a="http://schemas.openxmlformats.org/drawingml/2006/main">
            <a:pPr>
              <a:defRPr sz="3450" b="1">
                <a:solidFill>
                  <a:srgbClr val="172B4D"/>
                </a:solidFill>
              </a:defRPr>
            </a:pPr>
            <a:r>
              <a:rPr sz="3450" b="1">
                <a:solidFill>
                  <a:srgbClr val="172B4D"/>
                </a:solidFill>
              </a:rPr>
              <a:t>How it works</a:t>
            </a:r>
          </a:p>
        </p:txBody>
      </p:sp>
      <p:sp>
        <p:nvSpPr>
          <p:cNvPr id="2" name="">
            <a:extLst xmlns:a="http://schemas.openxmlformats.org/drawingml/2006/main">
              <a:ext uri="{FF2B5EF4-FFF2-40B4-BE49-F238E27FC236}">
                <a16:creationId xmlns:a16="http://schemas.microsoft.com/office/drawing/2014/main" id="{B8B1FFA4-52FD-4E39-84A7-16F633485B98}"/>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defRPr>
            </a:defPPr>
          </a:lstStyle>
          <a:p xmlns:a="http://schemas.openxmlformats.org/drawingml/2006/main">
            <a:pPr>
              <a:defRPr sz="1350" b="0">
                <a:solidFill>
                  <a:srgbClr val="64748B"/>
                </a:solidFill>
              </a:defRPr>
            </a:pPr>
            <a:r>
              <a:rPr sz="1350" b="0">
                <a:solidFill>
                  <a:srgbClr val="64748B"/>
                </a:solidFill>
              </a:rPr>
              <a:t>04</a:t>
            </a:r>
          </a:p>
        </p:txBody>
      </p:sp>
      <p:sp>
        <p:nvSpPr>
          <p:cNvPr id="3" name="">
            <a:extLst xmlns:a="http://schemas.openxmlformats.org/drawingml/2006/main">
              <a:ext uri="{FF2B5EF4-FFF2-40B4-BE49-F238E27FC236}">
                <a16:creationId xmlns:a16="http://schemas.microsoft.com/office/drawing/2014/main" id="{BDB85353-63A8-4B97-AFCF-9039E70067DA}"/>
              </a:ext>
            </a:extLst>
          </p:cNvPr>
          <p:cNvSpPr>
            <a:spLocks xmlns:a="http://schemas.openxmlformats.org/drawingml/2006/main" noGrp="1"/>
          </p:cNvSpPr>
          <p:nvPr/>
        </p:nvSpPr>
        <p:spPr>
          <a:xfrm xmlns:a="http://schemas.openxmlformats.org/drawingml/2006/main">
            <a:off x="74295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01</a:t>
            </a:r>
          </a:p>
        </p:txBody>
      </p:sp>
      <p:sp>
        <p:nvSpPr>
          <p:cNvPr id="4" name="">
            <a:extLst xmlns:a="http://schemas.openxmlformats.org/drawingml/2006/main">
              <a:ext uri="{FF2B5EF4-FFF2-40B4-BE49-F238E27FC236}">
                <a16:creationId xmlns:a16="http://schemas.microsoft.com/office/drawing/2014/main" id="{93F241F5-87C7-4A11-9122-230EEF2A7989}"/>
              </a:ext>
            </a:extLst>
          </p:cNvPr>
          <p:cNvSpPr>
            <a:spLocks xmlns:a="http://schemas.openxmlformats.org/drawingml/2006/main" noGrp="1"/>
          </p:cNvSpPr>
          <p:nvPr/>
        </p:nvSpPr>
        <p:spPr>
          <a:xfrm xmlns:a="http://schemas.openxmlformats.org/drawingml/2006/main">
            <a:off x="1524000" y="1714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Read historical prices</a:t>
            </a:r>
          </a:p>
        </p:txBody>
      </p:sp>
      <p:sp>
        <p:nvSpPr>
          <p:cNvPr id="5" name="">
            <a:extLst xmlns:a="http://schemas.openxmlformats.org/drawingml/2006/main">
              <a:ext uri="{FF2B5EF4-FFF2-40B4-BE49-F238E27FC236}">
                <a16:creationId xmlns:a16="http://schemas.microsoft.com/office/drawing/2014/main" id="{3B3CE69D-223F-402C-AB4F-8E9AC76E859F}"/>
              </a:ext>
            </a:extLst>
          </p:cNvPr>
          <p:cNvSpPr>
            <a:spLocks xmlns:a="http://schemas.openxmlformats.org/drawingml/2006/main" noGrp="1"/>
          </p:cNvSpPr>
          <p:nvPr/>
        </p:nvSpPr>
        <p:spPr>
          <a:xfrm xmlns:a="http://schemas.openxmlformats.org/drawingml/2006/main">
            <a:off x="742950" y="25241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02</a:t>
            </a:r>
          </a:p>
        </p:txBody>
      </p:sp>
      <p:sp>
        <p:nvSpPr>
          <p:cNvPr id="6" name="">
            <a:extLst xmlns:a="http://schemas.openxmlformats.org/drawingml/2006/main">
              <a:ext uri="{FF2B5EF4-FFF2-40B4-BE49-F238E27FC236}">
                <a16:creationId xmlns:a16="http://schemas.microsoft.com/office/drawing/2014/main" id="{4D3C79C3-7111-4C05-BDF9-0554588470A2}"/>
              </a:ext>
            </a:extLst>
          </p:cNvPr>
          <p:cNvSpPr>
            <a:spLocks xmlns:a="http://schemas.openxmlformats.org/drawingml/2006/main" noGrp="1"/>
          </p:cNvSpPr>
          <p:nvPr/>
        </p:nvSpPr>
        <p:spPr>
          <a:xfrm xmlns:a="http://schemas.openxmlformats.org/drawingml/2006/main">
            <a:off x="1524000" y="252412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Calculate technical indicators</a:t>
            </a:r>
          </a:p>
        </p:txBody>
      </p:sp>
      <p:sp>
        <p:nvSpPr>
          <p:cNvPr id="7" name="">
            <a:extLst xmlns:a="http://schemas.openxmlformats.org/drawingml/2006/main">
              <a:ext uri="{FF2B5EF4-FFF2-40B4-BE49-F238E27FC236}">
                <a16:creationId xmlns:a16="http://schemas.microsoft.com/office/drawing/2014/main" id="{0DBAFF44-E806-4EE8-8505-79A749AF9214}"/>
              </a:ext>
            </a:extLst>
          </p:cNvPr>
          <p:cNvSpPr>
            <a:spLocks xmlns:a="http://schemas.openxmlformats.org/drawingml/2006/main" noGrp="1"/>
          </p:cNvSpPr>
          <p:nvPr/>
        </p:nvSpPr>
        <p:spPr>
          <a:xfrm xmlns:a="http://schemas.openxmlformats.org/drawingml/2006/main">
            <a:off x="742950" y="3333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03</a:t>
            </a:r>
          </a:p>
        </p:txBody>
      </p:sp>
      <p:sp>
        <p:nvSpPr>
          <p:cNvPr id="8" name="">
            <a:extLst xmlns:a="http://schemas.openxmlformats.org/drawingml/2006/main">
              <a:ext uri="{FF2B5EF4-FFF2-40B4-BE49-F238E27FC236}">
                <a16:creationId xmlns:a16="http://schemas.microsoft.com/office/drawing/2014/main" id="{45FF77B8-2C73-4360-ABA6-7DDB37DC94D9}"/>
              </a:ext>
            </a:extLst>
          </p:cNvPr>
          <p:cNvSpPr>
            <a:spLocks xmlns:a="http://schemas.openxmlformats.org/drawingml/2006/main" noGrp="1"/>
          </p:cNvSpPr>
          <p:nvPr/>
        </p:nvSpPr>
        <p:spPr>
          <a:xfrm xmlns:a="http://schemas.openxmlformats.org/drawingml/2006/main">
            <a:off x="1524000" y="333375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Estimate the chance of a rise with LightGBM</a:t>
            </a:r>
          </a:p>
        </p:txBody>
      </p:sp>
      <p:sp>
        <p:nvSpPr>
          <p:cNvPr id="9" name="">
            <a:extLst xmlns:a="http://schemas.openxmlformats.org/drawingml/2006/main">
              <a:ext uri="{FF2B5EF4-FFF2-40B4-BE49-F238E27FC236}">
                <a16:creationId xmlns:a16="http://schemas.microsoft.com/office/drawing/2014/main" id="{285867A5-EB48-4501-B5DD-ECABCB53431F}"/>
              </a:ext>
            </a:extLst>
          </p:cNvPr>
          <p:cNvSpPr>
            <a:spLocks xmlns:a="http://schemas.openxmlformats.org/drawingml/2006/main" noGrp="1"/>
          </p:cNvSpPr>
          <p:nvPr/>
        </p:nvSpPr>
        <p:spPr>
          <a:xfrm xmlns:a="http://schemas.openxmlformats.org/drawingml/2006/main">
            <a:off x="742950" y="41433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04</a:t>
            </a:r>
          </a:p>
        </p:txBody>
      </p:sp>
      <p:sp>
        <p:nvSpPr>
          <p:cNvPr id="10" name="">
            <a:extLst xmlns:a="http://schemas.openxmlformats.org/drawingml/2006/main">
              <a:ext uri="{FF2B5EF4-FFF2-40B4-BE49-F238E27FC236}">
                <a16:creationId xmlns:a16="http://schemas.microsoft.com/office/drawing/2014/main" id="{3906B379-49AB-4957-AF90-94FF204098CE}"/>
              </a:ext>
            </a:extLst>
          </p:cNvPr>
          <p:cNvSpPr>
            <a:spLocks xmlns:a="http://schemas.openxmlformats.org/drawingml/2006/main" noGrp="1"/>
          </p:cNvSpPr>
          <p:nvPr/>
        </p:nvSpPr>
        <p:spPr>
          <a:xfrm xmlns:a="http://schemas.openxmlformats.org/drawingml/2006/main">
            <a:off x="1524000" y="414337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Search for trading rules with NSGA-II</a:t>
            </a:r>
          </a:p>
        </p:txBody>
      </p:sp>
      <p:sp>
        <p:nvSpPr>
          <p:cNvPr id="11" name="">
            <a:extLst xmlns:a="http://schemas.openxmlformats.org/drawingml/2006/main">
              <a:ext uri="{FF2B5EF4-FFF2-40B4-BE49-F238E27FC236}">
                <a16:creationId xmlns:a16="http://schemas.microsoft.com/office/drawing/2014/main" id="{C83A78E2-408A-4373-8960-7A06F64A8C0D}"/>
              </a:ext>
            </a:extLst>
          </p:cNvPr>
          <p:cNvSpPr>
            <a:spLocks xmlns:a="http://schemas.openxmlformats.org/drawingml/2006/main" noGrp="1"/>
          </p:cNvSpPr>
          <p:nvPr/>
        </p:nvSpPr>
        <p:spPr>
          <a:xfrm xmlns:a="http://schemas.openxmlformats.org/drawingml/2006/main">
            <a:off x="742950" y="49530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05</a:t>
            </a:r>
          </a:p>
        </p:txBody>
      </p:sp>
      <p:sp>
        <p:nvSpPr>
          <p:cNvPr id="12" name="">
            <a:extLst xmlns:a="http://schemas.openxmlformats.org/drawingml/2006/main">
              <a:ext uri="{FF2B5EF4-FFF2-40B4-BE49-F238E27FC236}">
                <a16:creationId xmlns:a16="http://schemas.microsoft.com/office/drawing/2014/main" id="{2A845A90-BD8C-49DA-8CD3-723991889562}"/>
              </a:ext>
            </a:extLst>
          </p:cNvPr>
          <p:cNvSpPr>
            <a:spLocks xmlns:a="http://schemas.openxmlformats.org/drawingml/2006/main" noGrp="1"/>
          </p:cNvSpPr>
          <p:nvPr/>
        </p:nvSpPr>
        <p:spPr>
          <a:xfrm xmlns:a="http://schemas.openxmlformats.org/drawingml/2006/main">
            <a:off x="1524000" y="49530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Backtest and display the results</a:t>
            </a:r>
          </a:p>
        </p:txBody>
      </p:sp>
    </p:spTree>
    <p:extLst>
      <p:ext uri="{BB962C8B-B14F-4D97-AF65-F5344CB8AC3E}">
        <p14:creationId xmlns:p14="http://schemas.microsoft.com/office/powerpoint/2010/main" val="13047637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A85226-42D3-4857-80EC-FEA9A36748AA}"/>
              </a:ext>
            </a:extLst>
          </p:cNvPr>
          <p:cNvSpPr>
            <a:spLocks xmlns:a="http://schemas.openxmlformats.org/drawingml/2006/main" noGrp="1"/>
          </p:cNvSpPr>
          <p:nvPr/>
        </p:nvSpPr>
        <p:spPr>
          <a:xfrm xmlns:a="http://schemas.openxmlformats.org/drawingml/2006/main">
            <a:off x="723900" y="619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2B4D"/>
                </a:solidFill>
              </a:defRPr>
            </a:defPPr>
          </a:lstStyle>
          <a:p xmlns:a="http://schemas.openxmlformats.org/drawingml/2006/main">
            <a:pPr>
              <a:defRPr sz="3450" b="1">
                <a:solidFill>
                  <a:srgbClr val="172B4D"/>
                </a:solidFill>
              </a:defRPr>
            </a:pPr>
            <a:r>
              <a:rPr sz="3450" b="1">
                <a:solidFill>
                  <a:srgbClr val="172B4D"/>
                </a:solidFill>
              </a:rPr>
              <a:t>The two algorithms</a:t>
            </a:r>
          </a:p>
        </p:txBody>
      </p:sp>
      <p:sp>
        <p:nvSpPr>
          <p:cNvPr id="2" name="">
            <a:extLst xmlns:a="http://schemas.openxmlformats.org/drawingml/2006/main">
              <a:ext uri="{FF2B5EF4-FFF2-40B4-BE49-F238E27FC236}">
                <a16:creationId xmlns:a16="http://schemas.microsoft.com/office/drawing/2014/main" id="{6BA95945-5FF3-4D0C-AAE3-33D42FD3FC46}"/>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defRPr>
            </a:defPPr>
          </a:lstStyle>
          <a:p xmlns:a="http://schemas.openxmlformats.org/drawingml/2006/main">
            <a:pPr>
              <a:defRPr sz="1350" b="0">
                <a:solidFill>
                  <a:srgbClr val="64748B"/>
                </a:solidFill>
              </a:defRPr>
            </a:pPr>
            <a:r>
              <a:rPr sz="1350" b="0">
                <a:solidFill>
                  <a:srgbClr val="64748B"/>
                </a:solidFill>
              </a:rPr>
              <a:t>05</a:t>
            </a:r>
          </a:p>
        </p:txBody>
      </p:sp>
      <p:sp>
        <p:nvSpPr>
          <p:cNvPr id="3" name="">
            <a:extLst xmlns:a="http://schemas.openxmlformats.org/drawingml/2006/main">
              <a:ext uri="{FF2B5EF4-FFF2-40B4-BE49-F238E27FC236}">
                <a16:creationId xmlns:a16="http://schemas.microsoft.com/office/drawing/2014/main" id="{0040267C-72A8-47D8-860E-37D809F065F3}"/>
              </a:ext>
            </a:extLst>
          </p:cNvPr>
          <p:cNvSpPr>
            <a:spLocks xmlns:a="http://schemas.openxmlformats.org/drawingml/2006/main" noGrp="1"/>
          </p:cNvSpPr>
          <p:nvPr/>
        </p:nvSpPr>
        <p:spPr>
          <a:xfrm xmlns:a="http://schemas.openxmlformats.org/drawingml/2006/main">
            <a:off x="742950" y="20002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479B8"/>
                </a:solidFill>
              </a:defRPr>
            </a:defPPr>
          </a:lstStyle>
          <a:p xmlns:a="http://schemas.openxmlformats.org/drawingml/2006/main">
            <a:pPr>
              <a:defRPr sz="2775" b="1">
                <a:solidFill>
                  <a:srgbClr val="1479B8"/>
                </a:solidFill>
              </a:defRPr>
            </a:pPr>
            <a:r>
              <a:rPr sz="2775" b="1">
                <a:solidFill>
                  <a:srgbClr val="1479B8"/>
                </a:solidFill>
              </a:rPr>
              <a:t>LightGBM</a:t>
            </a:r>
          </a:p>
        </p:txBody>
      </p:sp>
      <p:sp>
        <p:nvSpPr>
          <p:cNvPr id="4" name="">
            <a:extLst xmlns:a="http://schemas.openxmlformats.org/drawingml/2006/main">
              <a:ext uri="{FF2B5EF4-FFF2-40B4-BE49-F238E27FC236}">
                <a16:creationId xmlns:a16="http://schemas.microsoft.com/office/drawing/2014/main" id="{86850784-B036-416D-8BC8-89DF8E41D0E0}"/>
              </a:ext>
            </a:extLst>
          </p:cNvPr>
          <p:cNvSpPr>
            <a:spLocks xmlns:a="http://schemas.openxmlformats.org/drawingml/2006/main" noGrp="1"/>
          </p:cNvSpPr>
          <p:nvPr/>
        </p:nvSpPr>
        <p:spPr>
          <a:xfrm xmlns:a="http://schemas.openxmlformats.org/drawingml/2006/main">
            <a:off x="742950" y="2857500"/>
            <a:ext cx="4857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2B4D"/>
                </a:solidFill>
              </a:defRPr>
            </a:defPPr>
          </a:lstStyle>
          <a:p xmlns:a="http://schemas.openxmlformats.org/drawingml/2006/main">
            <a:pPr>
              <a:defRPr sz="2325" b="0">
                <a:solidFill>
                  <a:srgbClr val="172B4D"/>
                </a:solidFill>
              </a:defRPr>
            </a:pPr>
            <a:r>
              <a:rPr sz="2325" b="0">
                <a:solidFill>
                  <a:srgbClr val="172B4D"/>
                </a:solidFill>
              </a:rPr>
              <a:t>Learns patterns from past data</a:t>
            </a:r>
          </a:p>
          <a:p xmlns:a="http://schemas.openxmlformats.org/drawingml/2006/main">
            <a:r>
              <a:t/>
            </a:r>
          </a:p>
          <a:p xmlns:a="http://schemas.openxmlformats.org/drawingml/2006/main">
            <a:pPr>
              <a:defRPr sz="2325" b="0">
                <a:solidFill>
                  <a:srgbClr val="172B4D"/>
                </a:solidFill>
              </a:defRPr>
            </a:pPr>
            <a:r>
              <a:rPr sz="2325" b="0">
                <a:solidFill>
                  <a:srgbClr val="172B4D"/>
                </a:solidFill>
              </a:rPr>
              <a:t>Estimates the probability of a rise</a:t>
            </a:r>
          </a:p>
        </p:txBody>
      </p:sp>
      <p:sp>
        <p:nvSpPr>
          <p:cNvPr id="5" name="">
            <a:extLst xmlns:a="http://schemas.openxmlformats.org/drawingml/2006/main">
              <a:ext uri="{FF2B5EF4-FFF2-40B4-BE49-F238E27FC236}">
                <a16:creationId xmlns:a16="http://schemas.microsoft.com/office/drawing/2014/main" id="{EF2CFE04-7CC3-4CBD-9CA7-02CE0ECC85C8}"/>
              </a:ext>
            </a:extLst>
          </p:cNvPr>
          <p:cNvSpPr>
            <a:spLocks xmlns:a="http://schemas.openxmlformats.org/drawingml/2006/main" noGrp="1"/>
          </p:cNvSpPr>
          <p:nvPr/>
        </p:nvSpPr>
        <p:spPr>
          <a:xfrm xmlns:a="http://schemas.openxmlformats.org/drawingml/2006/main">
            <a:off x="6572250" y="20002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479B8"/>
                </a:solidFill>
              </a:defRPr>
            </a:defPPr>
          </a:lstStyle>
          <a:p xmlns:a="http://schemas.openxmlformats.org/drawingml/2006/main">
            <a:pPr>
              <a:defRPr sz="2775" b="1">
                <a:solidFill>
                  <a:srgbClr val="1479B8"/>
                </a:solidFill>
              </a:defRPr>
            </a:pPr>
            <a:r>
              <a:rPr sz="2775" b="1">
                <a:solidFill>
                  <a:srgbClr val="1479B8"/>
                </a:solidFill>
              </a:rPr>
              <a:t>NSGA-II</a:t>
            </a:r>
          </a:p>
        </p:txBody>
      </p:sp>
      <p:sp>
        <p:nvSpPr>
          <p:cNvPr id="6" name="">
            <a:extLst xmlns:a="http://schemas.openxmlformats.org/drawingml/2006/main">
              <a:ext uri="{FF2B5EF4-FFF2-40B4-BE49-F238E27FC236}">
                <a16:creationId xmlns:a16="http://schemas.microsoft.com/office/drawing/2014/main" id="{291A7EDF-9CFB-4B4D-BAD6-9779B8874CE4}"/>
              </a:ext>
            </a:extLst>
          </p:cNvPr>
          <p:cNvSpPr>
            <a:spLocks xmlns:a="http://schemas.openxmlformats.org/drawingml/2006/main" noGrp="1"/>
          </p:cNvSpPr>
          <p:nvPr/>
        </p:nvSpPr>
        <p:spPr>
          <a:xfrm xmlns:a="http://schemas.openxmlformats.org/drawingml/2006/main">
            <a:off x="6572250" y="2857500"/>
            <a:ext cx="4857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2B4D"/>
                </a:solidFill>
              </a:defRPr>
            </a:defPPr>
          </a:lstStyle>
          <a:p xmlns:a="http://schemas.openxmlformats.org/drawingml/2006/main">
            <a:pPr>
              <a:defRPr sz="2325" b="0">
                <a:solidFill>
                  <a:srgbClr val="172B4D"/>
                </a:solidFill>
              </a:defRPr>
            </a:pPr>
            <a:r>
              <a:rPr sz="2325" b="0">
                <a:solidFill>
                  <a:srgbClr val="172B4D"/>
                </a:solidFill>
              </a:rPr>
              <a:t>Improves candidate trading rules</a:t>
            </a:r>
          </a:p>
          <a:p xmlns:a="http://schemas.openxmlformats.org/drawingml/2006/main">
            <a:r>
              <a:t/>
            </a:r>
          </a:p>
          <a:p xmlns:a="http://schemas.openxmlformats.org/drawingml/2006/main">
            <a:pPr>
              <a:defRPr sz="2325" b="0">
                <a:solidFill>
                  <a:srgbClr val="172B4D"/>
                </a:solidFill>
              </a:defRPr>
            </a:pPr>
            <a:r>
              <a:rPr sz="2325" b="0">
                <a:solidFill>
                  <a:srgbClr val="172B4D"/>
                </a:solidFill>
              </a:rPr>
              <a:t>Balances Sharpe ratio and maximum drawdown</a:t>
            </a:r>
          </a:p>
        </p:txBody>
      </p:sp>
      <p:sp>
        <p:nvSpPr>
          <p:cNvPr id="7" name="">
            <a:extLst xmlns:a="http://schemas.openxmlformats.org/drawingml/2006/main">
              <a:ext uri="{FF2B5EF4-FFF2-40B4-BE49-F238E27FC236}">
                <a16:creationId xmlns:a16="http://schemas.microsoft.com/office/drawing/2014/main" id="{1EEDC2F8-589A-47FB-B74C-2800F94E1885}"/>
              </a:ext>
            </a:extLst>
          </p:cNvPr>
          <p:cNvSpPr>
            <a:spLocks xmlns:a="http://schemas.openxmlformats.org/drawingml/2006/main" noGrp="1"/>
          </p:cNvSpPr>
          <p:nvPr/>
        </p:nvSpPr>
        <p:spPr>
          <a:xfrm xmlns:a="http://schemas.openxmlformats.org/drawingml/2006/main">
            <a:off x="742950" y="56197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4748B"/>
                </a:solidFill>
              </a:defRPr>
            </a:defPPr>
          </a:lstStyle>
          <a:p xmlns:a="http://schemas.openxmlformats.org/drawingml/2006/main">
            <a:pPr>
              <a:defRPr sz="1800" b="0">
                <a:solidFill>
                  <a:srgbClr val="64748B"/>
                </a:solidFill>
              </a:defRPr>
            </a:pPr>
            <a:r>
              <a:rPr sz="1800" b="0">
                <a:solidFill>
                  <a:srgbClr val="64748B"/>
                </a:solidFill>
              </a:rPr>
              <a:t>Sharpe: return relative to variability     Drawdown: largest fall from a peak</a:t>
            </a:r>
          </a:p>
        </p:txBody>
      </p:sp>
    </p:spTree>
    <p:extLst>
      <p:ext uri="{BB962C8B-B14F-4D97-AF65-F5344CB8AC3E}">
        <p14:creationId xmlns:p14="http://schemas.microsoft.com/office/powerpoint/2010/main" val="9975502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09F259-25CE-4AA3-8899-B66AAA2460F8}"/>
              </a:ext>
            </a:extLst>
          </p:cNvPr>
          <p:cNvSpPr>
            <a:spLocks xmlns:a="http://schemas.openxmlformats.org/drawingml/2006/main" noGrp="1"/>
          </p:cNvSpPr>
          <p:nvPr/>
        </p:nvSpPr>
        <p:spPr>
          <a:xfrm xmlns:a="http://schemas.openxmlformats.org/drawingml/2006/main">
            <a:off x="723900" y="619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2B4D"/>
                </a:solidFill>
              </a:defRPr>
            </a:defPPr>
          </a:lstStyle>
          <a:p xmlns:a="http://schemas.openxmlformats.org/drawingml/2006/main">
            <a:pPr>
              <a:defRPr sz="3450" b="1">
                <a:solidFill>
                  <a:srgbClr val="172B4D"/>
                </a:solidFill>
              </a:defRPr>
            </a:pPr>
            <a:r>
              <a:rPr sz="3450" b="1">
                <a:solidFill>
                  <a:srgbClr val="172B4D"/>
                </a:solidFill>
              </a:rPr>
              <a:t>Research results</a:t>
            </a:r>
          </a:p>
        </p:txBody>
      </p:sp>
      <p:sp>
        <p:nvSpPr>
          <p:cNvPr id="2" name="">
            <a:extLst xmlns:a="http://schemas.openxmlformats.org/drawingml/2006/main">
              <a:ext uri="{FF2B5EF4-FFF2-40B4-BE49-F238E27FC236}">
                <a16:creationId xmlns:a16="http://schemas.microsoft.com/office/drawing/2014/main" id="{91B30E97-79AC-45A4-9BB6-21D0F721CDB1}"/>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defRPr>
            </a:defPPr>
          </a:lstStyle>
          <a:p xmlns:a="http://schemas.openxmlformats.org/drawingml/2006/main">
            <a:pPr>
              <a:defRPr sz="1350" b="0">
                <a:solidFill>
                  <a:srgbClr val="64748B"/>
                </a:solidFill>
              </a:defRPr>
            </a:pPr>
            <a:r>
              <a:rPr sz="1350" b="0">
                <a:solidFill>
                  <a:srgbClr val="64748B"/>
                </a:solidFill>
              </a:rPr>
              <a:t>06</a:t>
            </a:r>
          </a:p>
        </p:txBody>
      </p:sp>
      <p:sp>
        <p:nvSpPr>
          <p:cNvPr id="3" name="">
            <a:extLst xmlns:a="http://schemas.openxmlformats.org/drawingml/2006/main">
              <a:ext uri="{FF2B5EF4-FFF2-40B4-BE49-F238E27FC236}">
                <a16:creationId xmlns:a16="http://schemas.microsoft.com/office/drawing/2014/main" id="{13089E61-C0FF-4DE8-BA8D-19F3D07BDEF4}"/>
              </a:ext>
            </a:extLst>
          </p:cNvPr>
          <p:cNvSpPr>
            <a:spLocks xmlns:a="http://schemas.openxmlformats.org/drawingml/2006/main" noGrp="1"/>
          </p:cNvSpPr>
          <p:nvPr/>
        </p:nvSpPr>
        <p:spPr>
          <a:xfrm xmlns:a="http://schemas.openxmlformats.org/drawingml/2006/main">
            <a:off x="742950" y="15716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4748B"/>
                </a:solidFill>
              </a:defRPr>
            </a:defPPr>
          </a:lstStyle>
          <a:p xmlns:a="http://schemas.openxmlformats.org/drawingml/2006/main">
            <a:pPr>
              <a:defRPr sz="1875" b="0">
                <a:solidFill>
                  <a:srgbClr val="64748B"/>
                </a:solidFill>
              </a:defRPr>
            </a:pPr>
            <a:r>
              <a:rPr sz="1875" b="0">
                <a:solidFill>
                  <a:srgbClr val="64748B"/>
                </a:solidFill>
              </a:rPr>
              <a:t>2020-2025 cumulative return; hybrid median across 3 seeds</a:t>
            </a:r>
          </a:p>
        </p:txBody>
      </p:sp>
      <p:graphicFrame>
        <p:nvGraphicFramePr>
          <p:cNvPr id="4" name="">
            <a:extLst xmlns:a="http://schemas.openxmlformats.org/drawingml/2006/main">
              <a:ext uri="{FF2B5EF4-FFF2-40B4-BE49-F238E27FC236}">
                <a16:creationId xmlns:a16="http://schemas.microsoft.com/office/drawing/2014/main" id="{A13AFBC3-1EC8-4CE3-B810-102AE913AAB0}"/>
              </a:ext>
            </a:extLst>
          </p:cNvPr>
          <p:cNvGraphicFramePr/>
          <p:nvPr/>
        </p:nvGraphicFramePr>
        <p:xfrm>
          <a:off xmlns:a="http://schemas.openxmlformats.org/drawingml/2006/main" x="742950" y="2428875"/>
          <a:ext xmlns:a="http://schemas.openxmlformats.org/drawingml/2006/main" cx="10668000" cy="2381250"/>
        </p:xfrm>
        <a:graphic xmlns:a="http://schemas.openxmlformats.org/drawingml/2006/main">
          <a:graphicData uri="http://schemas.openxmlformats.org/drawingml/2006/table">
            <a:tbl>
              <a:tblPr/>
              <a:tblGrid>
                <a:gridCol w="3524250"/>
                <a:gridCol w="3238500"/>
                <a:gridCol w="3905250"/>
              </a:tblGrid>
              <a:tr h="595313">
                <a:tc>
                  <a:txBody>
                    <a:bodyPr/>
                    <a:lstStyle/>
                    <a:p>
                      <a:r>
                        <a:rPr sz="2175" b="1">
                          <a:solidFill>
                            <a:srgbClr val="FFFFFF"/>
                          </a:solidFill>
                        </a:rPr>
                        <a:t>Stock</a:t>
                      </a:r>
                    </a:p>
                  </a:txBody>
                  <a:tcPr marL="91440" marR="91440" marT="45720" marB="45720">
                    <a:solidFill>
                      <a:srgbClr val="172B4D"/>
                    </a:solidFill>
                  </a:tcPr>
                </a:tc>
                <a:tc>
                  <a:txBody>
                    <a:bodyPr/>
                    <a:lstStyle/>
                    <a:p>
                      <a:r>
                        <a:rPr sz="2175" b="1">
                          <a:solidFill>
                            <a:srgbClr val="FFFFFF"/>
                          </a:solidFill>
                        </a:rPr>
                        <a:t>Hybrid return</a:t>
                      </a:r>
                    </a:p>
                  </a:txBody>
                  <a:tcPr marL="91440" marR="91440" marT="45720" marB="45720">
                    <a:solidFill>
                      <a:srgbClr val="172B4D"/>
                    </a:solidFill>
                  </a:tcPr>
                </a:tc>
                <a:tc>
                  <a:txBody>
                    <a:bodyPr/>
                    <a:lstStyle/>
                    <a:p>
                      <a:r>
                        <a:rPr sz="2175" b="1">
                          <a:solidFill>
                            <a:srgbClr val="FFFFFF"/>
                          </a:solidFill>
                        </a:rPr>
                        <a:t>Buy-and-hold return</a:t>
                      </a:r>
                    </a:p>
                  </a:txBody>
                  <a:tcPr marL="91440" marR="91440" marT="45720" marB="45720">
                    <a:solidFill>
                      <a:srgbClr val="172B4D"/>
                    </a:solidFill>
                  </a:tcPr>
                </a:tc>
              </a:tr>
              <a:tr h="595313">
                <a:tc>
                  <a:txBody>
                    <a:bodyPr/>
                    <a:lstStyle/>
                    <a:p>
                      <a:r>
                        <a:rPr sz="2175" b="0">
                          <a:solidFill>
                            <a:srgbClr val="172B4D"/>
                          </a:solidFill>
                        </a:rPr>
                        <a:t>Reliance</a:t>
                      </a:r>
                    </a:p>
                  </a:txBody>
                  <a:tcPr marL="91440" marR="91440" marT="45720" marB="45720">
                    <a:solidFill>
                      <a:srgbClr val="F1F5F9"/>
                    </a:solidFill>
                  </a:tcPr>
                </a:tc>
                <a:tc>
                  <a:txBody>
                    <a:bodyPr/>
                    <a:lstStyle/>
                    <a:p>
                      <a:r>
                        <a:rPr sz="2175" b="0">
                          <a:solidFill>
                            <a:srgbClr val="172B4D"/>
                          </a:solidFill>
                        </a:rPr>
                        <a:t>-0.35%</a:t>
                      </a:r>
                    </a:p>
                  </a:txBody>
                  <a:tcPr marL="91440" marR="91440" marT="45720" marB="45720">
                    <a:solidFill>
                      <a:srgbClr val="F1F5F9"/>
                    </a:solidFill>
                  </a:tcPr>
                </a:tc>
                <a:tc>
                  <a:txBody>
                    <a:bodyPr/>
                    <a:lstStyle/>
                    <a:p>
                      <a:r>
                        <a:rPr sz="2175" b="0">
                          <a:solidFill>
                            <a:srgbClr val="172B4D"/>
                          </a:solidFill>
                        </a:rPr>
                        <a:t>128.74%</a:t>
                      </a:r>
                    </a:p>
                  </a:txBody>
                  <a:tcPr marL="91440" marR="91440" marT="45720" marB="45720">
                    <a:solidFill>
                      <a:srgbClr val="F1F5F9"/>
                    </a:solidFill>
                  </a:tcPr>
                </a:tc>
              </a:tr>
              <a:tr h="595313">
                <a:tc>
                  <a:txBody>
                    <a:bodyPr/>
                    <a:lstStyle/>
                    <a:p>
                      <a:r>
                        <a:rPr sz="2175" b="0">
                          <a:solidFill>
                            <a:srgbClr val="172B4D"/>
                          </a:solidFill>
                        </a:rPr>
                        <a:t>TCS</a:t>
                      </a:r>
                    </a:p>
                  </a:txBody>
                  <a:tcPr marL="91440" marR="91440" marT="45720" marB="45720">
                    <a:solidFill>
                      <a:srgbClr val="FFFFFF"/>
                    </a:solidFill>
                  </a:tcPr>
                </a:tc>
                <a:tc>
                  <a:txBody>
                    <a:bodyPr/>
                    <a:lstStyle/>
                    <a:p>
                      <a:r>
                        <a:rPr sz="2175" b="0">
                          <a:solidFill>
                            <a:srgbClr val="172B4D"/>
                          </a:solidFill>
                        </a:rPr>
                        <a:t>25.60%</a:t>
                      </a:r>
                    </a:p>
                  </a:txBody>
                  <a:tcPr marL="91440" marR="91440" marT="45720" marB="45720">
                    <a:solidFill>
                      <a:srgbClr val="FFFFFF"/>
                    </a:solidFill>
                  </a:tcPr>
                </a:tc>
                <a:tc>
                  <a:txBody>
                    <a:bodyPr/>
                    <a:lstStyle/>
                    <a:p>
                      <a:r>
                        <a:rPr sz="2175" b="0">
                          <a:solidFill>
                            <a:srgbClr val="172B4D"/>
                          </a:solidFill>
                        </a:rPr>
                        <a:t>65.13%</a:t>
                      </a:r>
                    </a:p>
                  </a:txBody>
                  <a:tcPr marL="91440" marR="91440" marT="45720" marB="45720">
                    <a:solidFill>
                      <a:srgbClr val="FFFFFF"/>
                    </a:solidFill>
                  </a:tcPr>
                </a:tc>
              </a:tr>
              <a:tr h="595313">
                <a:tc>
                  <a:txBody>
                    <a:bodyPr/>
                    <a:lstStyle/>
                    <a:p>
                      <a:r>
                        <a:rPr sz="2175" b="0">
                          <a:solidFill>
                            <a:srgbClr val="172B4D"/>
                          </a:solidFill>
                        </a:rPr>
                        <a:t>Infosys</a:t>
                      </a:r>
                    </a:p>
                  </a:txBody>
                  <a:tcPr marL="91440" marR="91440" marT="45720" marB="45720">
                    <a:solidFill>
                      <a:srgbClr val="F1F5F9"/>
                    </a:solidFill>
                  </a:tcPr>
                </a:tc>
                <a:tc>
                  <a:txBody>
                    <a:bodyPr/>
                    <a:lstStyle/>
                    <a:p>
                      <a:r>
                        <a:rPr sz="2175" b="0">
                          <a:solidFill>
                            <a:srgbClr val="172B4D"/>
                          </a:solidFill>
                        </a:rPr>
                        <a:t>9.10%</a:t>
                      </a:r>
                    </a:p>
                  </a:txBody>
                  <a:tcPr marL="91440" marR="91440" marT="45720" marB="45720">
                    <a:solidFill>
                      <a:srgbClr val="F1F5F9"/>
                    </a:solidFill>
                  </a:tcPr>
                </a:tc>
                <a:tc>
                  <a:txBody>
                    <a:bodyPr/>
                    <a:lstStyle/>
                    <a:p>
                      <a:r>
                        <a:rPr sz="2175" b="0">
                          <a:solidFill>
                            <a:srgbClr val="172B4D"/>
                          </a:solidFill>
                        </a:rPr>
                        <a:t>152.78%</a:t>
                      </a:r>
                    </a:p>
                  </a:txBody>
                  <a:tcPr marL="91440" marR="91440" marT="45720" marB="45720">
                    <a:solidFill>
                      <a:srgbClr val="F1F5F9"/>
                    </a:solidFill>
                  </a:tcPr>
                </a:tc>
              </a:tr>
            </a:tbl>
          </a:graphicData>
        </a:graphic>
      </p:graphicFrame>
      <p:sp>
        <p:nvSpPr>
          <p:cNvPr id="5" name="">
            <a:extLst xmlns:a="http://schemas.openxmlformats.org/drawingml/2006/main">
              <a:ext uri="{FF2B5EF4-FFF2-40B4-BE49-F238E27FC236}">
                <a16:creationId xmlns:a16="http://schemas.microsoft.com/office/drawing/2014/main" id="{A6DF2CE4-8460-4B77-841E-17B1B91F0944}"/>
              </a:ext>
            </a:extLst>
          </p:cNvPr>
          <p:cNvSpPr>
            <a:spLocks xmlns:a="http://schemas.openxmlformats.org/drawingml/2006/main" noGrp="1"/>
          </p:cNvSpPr>
          <p:nvPr/>
        </p:nvSpPr>
        <p:spPr>
          <a:xfrm xmlns:a="http://schemas.openxmlformats.org/drawingml/2006/main">
            <a:off x="742950" y="5286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79B8"/>
                </a:solidFill>
              </a:defRPr>
            </a:defPPr>
          </a:lstStyle>
          <a:p xmlns:a="http://schemas.openxmlformats.org/drawingml/2006/main">
            <a:pPr>
              <a:defRPr sz="2400" b="1">
                <a:solidFill>
                  <a:srgbClr val="1479B8"/>
                </a:solidFill>
              </a:defRPr>
            </a:pPr>
            <a:r>
              <a:rPr sz="2400" b="1">
                <a:solidFill>
                  <a:srgbClr val="1479B8"/>
                </a:solidFill>
              </a:rPr>
              <a:t>Buy-and-hold earned more on all three stocks</a:t>
            </a:r>
          </a:p>
        </p:txBody>
      </p:sp>
    </p:spTree>
    <p:extLst>
      <p:ext uri="{BB962C8B-B14F-4D97-AF65-F5344CB8AC3E}">
        <p14:creationId xmlns:p14="http://schemas.microsoft.com/office/powerpoint/2010/main" val="19064112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4F14CE-28A5-4270-A0E9-CF8FCE0681A2}"/>
              </a:ext>
            </a:extLst>
          </p:cNvPr>
          <p:cNvSpPr>
            <a:spLocks xmlns:a="http://schemas.openxmlformats.org/drawingml/2006/main" noGrp="1"/>
          </p:cNvSpPr>
          <p:nvPr/>
        </p:nvSpPr>
        <p:spPr>
          <a:xfrm xmlns:a="http://schemas.openxmlformats.org/drawingml/2006/main">
            <a:off x="723900" y="619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2B4D"/>
                </a:solidFill>
              </a:defRPr>
            </a:defPPr>
          </a:lstStyle>
          <a:p xmlns:a="http://schemas.openxmlformats.org/drawingml/2006/main">
            <a:pPr>
              <a:defRPr sz="3450" b="1">
                <a:solidFill>
                  <a:srgbClr val="172B4D"/>
                </a:solidFill>
              </a:defRPr>
            </a:pPr>
            <a:r>
              <a:rPr sz="3450" b="1">
                <a:solidFill>
                  <a:srgbClr val="172B4D"/>
                </a:solidFill>
              </a:rPr>
              <a:t>Using the dashboard</a:t>
            </a:r>
          </a:p>
        </p:txBody>
      </p:sp>
      <p:sp>
        <p:nvSpPr>
          <p:cNvPr id="2" name="">
            <a:extLst xmlns:a="http://schemas.openxmlformats.org/drawingml/2006/main">
              <a:ext uri="{FF2B5EF4-FFF2-40B4-BE49-F238E27FC236}">
                <a16:creationId xmlns:a16="http://schemas.microsoft.com/office/drawing/2014/main" id="{1376C3DE-0AE4-4335-925C-29B7C849F63F}"/>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defRPr>
            </a:defPPr>
          </a:lstStyle>
          <a:p xmlns:a="http://schemas.openxmlformats.org/drawingml/2006/main">
            <a:pPr>
              <a:defRPr sz="1350" b="0">
                <a:solidFill>
                  <a:srgbClr val="64748B"/>
                </a:solidFill>
              </a:defRPr>
            </a:pPr>
            <a:r>
              <a:rPr sz="1350" b="0">
                <a:solidFill>
                  <a:srgbClr val="64748B"/>
                </a:solidFill>
              </a:rPr>
              <a:t>07</a:t>
            </a:r>
          </a:p>
        </p:txBody>
      </p:sp>
      <p:sp>
        <p:nvSpPr>
          <p:cNvPr id="3" name="">
            <a:extLst xmlns:a="http://schemas.openxmlformats.org/drawingml/2006/main">
              <a:ext uri="{FF2B5EF4-FFF2-40B4-BE49-F238E27FC236}">
                <a16:creationId xmlns:a16="http://schemas.microsoft.com/office/drawing/2014/main" id="{E86F9585-50F2-4200-8BCD-77F8A21CC891}"/>
              </a:ext>
            </a:extLst>
          </p:cNvPr>
          <p:cNvSpPr>
            <a:spLocks xmlns:a="http://schemas.openxmlformats.org/drawingml/2006/main" noGrp="1"/>
          </p:cNvSpPr>
          <p:nvPr/>
        </p:nvSpPr>
        <p:spPr>
          <a:xfrm xmlns:a="http://schemas.openxmlformats.org/drawingml/2006/main">
            <a:off x="742950" y="17621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01</a:t>
            </a:r>
          </a:p>
        </p:txBody>
      </p:sp>
      <p:sp>
        <p:nvSpPr>
          <p:cNvPr id="4" name="">
            <a:extLst xmlns:a="http://schemas.openxmlformats.org/drawingml/2006/main">
              <a:ext uri="{FF2B5EF4-FFF2-40B4-BE49-F238E27FC236}">
                <a16:creationId xmlns:a16="http://schemas.microsoft.com/office/drawing/2014/main" id="{619332C3-A27B-4D74-8756-205DEA360C76}"/>
              </a:ext>
            </a:extLst>
          </p:cNvPr>
          <p:cNvSpPr>
            <a:spLocks xmlns:a="http://schemas.openxmlformats.org/drawingml/2006/main" noGrp="1"/>
          </p:cNvSpPr>
          <p:nvPr/>
        </p:nvSpPr>
        <p:spPr>
          <a:xfrm xmlns:a="http://schemas.openxmlformats.org/drawingml/2006/main">
            <a:off x="1524000" y="176212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Select a stock</a:t>
            </a:r>
          </a:p>
        </p:txBody>
      </p:sp>
      <p:sp>
        <p:nvSpPr>
          <p:cNvPr id="5" name="">
            <a:extLst xmlns:a="http://schemas.openxmlformats.org/drawingml/2006/main">
              <a:ext uri="{FF2B5EF4-FFF2-40B4-BE49-F238E27FC236}">
                <a16:creationId xmlns:a16="http://schemas.microsoft.com/office/drawing/2014/main" id="{B2869C82-4557-4C1A-B17B-176E8C442BA2}"/>
              </a:ext>
            </a:extLst>
          </p:cNvPr>
          <p:cNvSpPr>
            <a:spLocks xmlns:a="http://schemas.openxmlformats.org/drawingml/2006/main" noGrp="1"/>
          </p:cNvSpPr>
          <p:nvPr/>
        </p:nvSpPr>
        <p:spPr>
          <a:xfrm xmlns:a="http://schemas.openxmlformats.org/drawingml/2006/main">
            <a:off x="742950" y="26003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02</a:t>
            </a:r>
          </a:p>
        </p:txBody>
      </p:sp>
      <p:sp>
        <p:nvSpPr>
          <p:cNvPr id="6" name="">
            <a:extLst xmlns:a="http://schemas.openxmlformats.org/drawingml/2006/main">
              <a:ext uri="{FF2B5EF4-FFF2-40B4-BE49-F238E27FC236}">
                <a16:creationId xmlns:a16="http://schemas.microsoft.com/office/drawing/2014/main" id="{253B39C7-96F2-4290-920C-4883F448E0C3}"/>
              </a:ext>
            </a:extLst>
          </p:cNvPr>
          <p:cNvSpPr>
            <a:spLocks xmlns:a="http://schemas.openxmlformats.org/drawingml/2006/main" noGrp="1"/>
          </p:cNvSpPr>
          <p:nvPr/>
        </p:nvSpPr>
        <p:spPr>
          <a:xfrm xmlns:a="http://schemas.openxmlformats.org/drawingml/2006/main">
            <a:off x="1524000" y="260032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Use population 40, generations 15 and seed 42</a:t>
            </a:r>
          </a:p>
        </p:txBody>
      </p:sp>
      <p:sp>
        <p:nvSpPr>
          <p:cNvPr id="7" name="">
            <a:extLst xmlns:a="http://schemas.openxmlformats.org/drawingml/2006/main">
              <a:ext uri="{FF2B5EF4-FFF2-40B4-BE49-F238E27FC236}">
                <a16:creationId xmlns:a16="http://schemas.microsoft.com/office/drawing/2014/main" id="{03BAD849-FF80-4298-8B38-0FD042D8ABED}"/>
              </a:ext>
            </a:extLst>
          </p:cNvPr>
          <p:cNvSpPr>
            <a:spLocks xmlns:a="http://schemas.openxmlformats.org/drawingml/2006/main" noGrp="1"/>
          </p:cNvSpPr>
          <p:nvPr/>
        </p:nvSpPr>
        <p:spPr>
          <a:xfrm xmlns:a="http://schemas.openxmlformats.org/drawingml/2006/main">
            <a:off x="742950" y="34385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03</a:t>
            </a:r>
          </a:p>
        </p:txBody>
      </p:sp>
      <p:sp>
        <p:nvSpPr>
          <p:cNvPr id="8" name="">
            <a:extLst xmlns:a="http://schemas.openxmlformats.org/drawingml/2006/main">
              <a:ext uri="{FF2B5EF4-FFF2-40B4-BE49-F238E27FC236}">
                <a16:creationId xmlns:a16="http://schemas.microsoft.com/office/drawing/2014/main" id="{55D4A208-D340-46BE-B481-EEE13EF71420}"/>
              </a:ext>
            </a:extLst>
          </p:cNvPr>
          <p:cNvSpPr>
            <a:spLocks xmlns:a="http://schemas.openxmlformats.org/drawingml/2006/main" noGrp="1"/>
          </p:cNvSpPr>
          <p:nvPr/>
        </p:nvSpPr>
        <p:spPr>
          <a:xfrm xmlns:a="http://schemas.openxmlformats.org/drawingml/2006/main">
            <a:off x="1524000" y="343852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Click Run Experiment</a:t>
            </a:r>
          </a:p>
        </p:txBody>
      </p:sp>
      <p:sp>
        <p:nvSpPr>
          <p:cNvPr id="9" name="">
            <a:extLst xmlns:a="http://schemas.openxmlformats.org/drawingml/2006/main">
              <a:ext uri="{FF2B5EF4-FFF2-40B4-BE49-F238E27FC236}">
                <a16:creationId xmlns:a16="http://schemas.microsoft.com/office/drawing/2014/main" id="{5230FB9F-2506-470B-A7DC-47D9979D21D5}"/>
              </a:ext>
            </a:extLst>
          </p:cNvPr>
          <p:cNvSpPr>
            <a:spLocks xmlns:a="http://schemas.openxmlformats.org/drawingml/2006/main" noGrp="1"/>
          </p:cNvSpPr>
          <p:nvPr/>
        </p:nvSpPr>
        <p:spPr>
          <a:xfrm xmlns:a="http://schemas.openxmlformats.org/drawingml/2006/main">
            <a:off x="742950" y="42767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04</a:t>
            </a:r>
          </a:p>
        </p:txBody>
      </p:sp>
      <p:sp>
        <p:nvSpPr>
          <p:cNvPr id="10" name="">
            <a:extLst xmlns:a="http://schemas.openxmlformats.org/drawingml/2006/main">
              <a:ext uri="{FF2B5EF4-FFF2-40B4-BE49-F238E27FC236}">
                <a16:creationId xmlns:a16="http://schemas.microsoft.com/office/drawing/2014/main" id="{91146E50-B760-4FA9-BD36-E13AE93C2DB5}"/>
              </a:ext>
            </a:extLst>
          </p:cNvPr>
          <p:cNvSpPr>
            <a:spLocks xmlns:a="http://schemas.openxmlformats.org/drawingml/2006/main" noGrp="1"/>
          </p:cNvSpPr>
          <p:nvPr/>
        </p:nvSpPr>
        <p:spPr>
          <a:xfrm xmlns:a="http://schemas.openxmlformats.org/drawingml/2006/main">
            <a:off x="1524000" y="427672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Inspect performance, strategies and trades</a:t>
            </a:r>
          </a:p>
        </p:txBody>
      </p:sp>
      <p:sp>
        <p:nvSpPr>
          <p:cNvPr id="11" name="">
            <a:extLst xmlns:a="http://schemas.openxmlformats.org/drawingml/2006/main">
              <a:ext uri="{FF2B5EF4-FFF2-40B4-BE49-F238E27FC236}">
                <a16:creationId xmlns:a16="http://schemas.microsoft.com/office/drawing/2014/main" id="{36A22E54-574E-4AC7-9A5A-01F19B41C97D}"/>
              </a:ext>
            </a:extLst>
          </p:cNvPr>
          <p:cNvSpPr>
            <a:spLocks xmlns:a="http://schemas.openxmlformats.org/drawingml/2006/main" noGrp="1"/>
          </p:cNvSpPr>
          <p:nvPr/>
        </p:nvSpPr>
        <p:spPr>
          <a:xfrm xmlns:a="http://schemas.openxmlformats.org/drawingml/2006/main">
            <a:off x="742950" y="557212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8B"/>
                </a:solidFill>
              </a:defRPr>
            </a:defPPr>
          </a:lstStyle>
          <a:p xmlns:a="http://schemas.openxmlformats.org/drawingml/2006/main">
            <a:pPr>
              <a:defRPr sz="1725" b="0">
                <a:solidFill>
                  <a:srgbClr val="64748B"/>
                </a:solidFill>
              </a:defRPr>
            </a:pPr>
            <a:r>
              <a:rPr sz="1725" b="0">
                <a:solidFill>
                  <a:srgbClr val="64748B"/>
                </a:solidFill>
              </a:rPr>
              <a:t>Population = candidates     Generations = rounds     Seed = repeatable randomness</a:t>
            </a:r>
          </a:p>
        </p:txBody>
      </p:sp>
    </p:spTree>
    <p:extLst>
      <p:ext uri="{BB962C8B-B14F-4D97-AF65-F5344CB8AC3E}">
        <p14:creationId xmlns:p14="http://schemas.microsoft.com/office/powerpoint/2010/main" val="10190200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0F40DA-F368-421D-966D-B66B9B5EDFC0}"/>
              </a:ext>
            </a:extLst>
          </p:cNvPr>
          <p:cNvSpPr>
            <a:spLocks xmlns:a="http://schemas.openxmlformats.org/drawingml/2006/main" noGrp="1"/>
          </p:cNvSpPr>
          <p:nvPr/>
        </p:nvSpPr>
        <p:spPr>
          <a:xfrm xmlns:a="http://schemas.openxmlformats.org/drawingml/2006/main">
            <a:off x="723900" y="619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2B4D"/>
                </a:solidFill>
              </a:defRPr>
            </a:defPPr>
          </a:lstStyle>
          <a:p xmlns:a="http://schemas.openxmlformats.org/drawingml/2006/main">
            <a:pPr>
              <a:defRPr sz="3450" b="1">
                <a:solidFill>
                  <a:srgbClr val="172B4D"/>
                </a:solidFill>
              </a:defRPr>
            </a:pPr>
            <a:r>
              <a:rPr sz="3450" b="1">
                <a:solidFill>
                  <a:srgbClr val="172B4D"/>
                </a:solidFill>
              </a:rPr>
              <a:t>Conclusion and next steps</a:t>
            </a:r>
          </a:p>
        </p:txBody>
      </p:sp>
      <p:sp>
        <p:nvSpPr>
          <p:cNvPr id="2" name="">
            <a:extLst xmlns:a="http://schemas.openxmlformats.org/drawingml/2006/main">
              <a:ext uri="{FF2B5EF4-FFF2-40B4-BE49-F238E27FC236}">
                <a16:creationId xmlns:a16="http://schemas.microsoft.com/office/drawing/2014/main" id="{4BE95912-EC82-42DA-A886-8FF153706F63}"/>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defRPr>
            </a:defPPr>
          </a:lstStyle>
          <a:p xmlns:a="http://schemas.openxmlformats.org/drawingml/2006/main">
            <a:pPr>
              <a:defRPr sz="1350" b="0">
                <a:solidFill>
                  <a:srgbClr val="64748B"/>
                </a:solidFill>
              </a:defRPr>
            </a:pPr>
            <a:r>
              <a:rPr sz="1350" b="0">
                <a:solidFill>
                  <a:srgbClr val="64748B"/>
                </a:solidFill>
              </a:rPr>
              <a:t>08</a:t>
            </a:r>
          </a:p>
        </p:txBody>
      </p:sp>
      <p:sp>
        <p:nvSpPr>
          <p:cNvPr id="3" name="">
            <a:extLst xmlns:a="http://schemas.openxmlformats.org/drawingml/2006/main">
              <a:ext uri="{FF2B5EF4-FFF2-40B4-BE49-F238E27FC236}">
                <a16:creationId xmlns:a16="http://schemas.microsoft.com/office/drawing/2014/main" id="{C638CA3E-759C-4A85-9CE5-ADED505C9C8F}"/>
              </a:ext>
            </a:extLst>
          </p:cNvPr>
          <p:cNvSpPr>
            <a:spLocks xmlns:a="http://schemas.openxmlformats.org/drawingml/2006/main" noGrp="1"/>
          </p:cNvSpPr>
          <p:nvPr/>
        </p:nvSpPr>
        <p:spPr>
          <a:xfrm xmlns:a="http://schemas.openxmlformats.org/drawingml/2006/main">
            <a:off x="742950" y="1952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01</a:t>
            </a:r>
          </a:p>
        </p:txBody>
      </p:sp>
      <p:sp>
        <p:nvSpPr>
          <p:cNvPr id="4" name="">
            <a:extLst xmlns:a="http://schemas.openxmlformats.org/drawingml/2006/main">
              <a:ext uri="{FF2B5EF4-FFF2-40B4-BE49-F238E27FC236}">
                <a16:creationId xmlns:a16="http://schemas.microsoft.com/office/drawing/2014/main" id="{B20FB529-BD4D-482A-9A97-62572D566657}"/>
              </a:ext>
            </a:extLst>
          </p:cNvPr>
          <p:cNvSpPr>
            <a:spLocks xmlns:a="http://schemas.openxmlformats.org/drawingml/2006/main" noGrp="1"/>
          </p:cNvSpPr>
          <p:nvPr/>
        </p:nvSpPr>
        <p:spPr>
          <a:xfrm xmlns:a="http://schemas.openxmlformats.org/drawingml/2006/main">
            <a:off x="1524000" y="195262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Built a complete prediction and strategy research tool</a:t>
            </a:r>
          </a:p>
        </p:txBody>
      </p:sp>
      <p:sp>
        <p:nvSpPr>
          <p:cNvPr id="5" name="">
            <a:extLst xmlns:a="http://schemas.openxmlformats.org/drawingml/2006/main">
              <a:ext uri="{FF2B5EF4-FFF2-40B4-BE49-F238E27FC236}">
                <a16:creationId xmlns:a16="http://schemas.microsoft.com/office/drawing/2014/main" id="{46AFDEE5-D4F3-42E7-A197-ED30CCBAC8BC}"/>
              </a:ext>
            </a:extLst>
          </p:cNvPr>
          <p:cNvSpPr>
            <a:spLocks xmlns:a="http://schemas.openxmlformats.org/drawingml/2006/main" noGrp="1"/>
          </p:cNvSpPr>
          <p:nvPr/>
        </p:nvSpPr>
        <p:spPr>
          <a:xfrm xmlns:a="http://schemas.openxmlformats.org/drawingml/2006/main">
            <a:off x="742950" y="29337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02</a:t>
            </a:r>
          </a:p>
        </p:txBody>
      </p:sp>
      <p:sp>
        <p:nvSpPr>
          <p:cNvPr id="6" name="">
            <a:extLst xmlns:a="http://schemas.openxmlformats.org/drawingml/2006/main">
              <a:ext uri="{FF2B5EF4-FFF2-40B4-BE49-F238E27FC236}">
                <a16:creationId xmlns:a16="http://schemas.microsoft.com/office/drawing/2014/main" id="{C2D580C8-591D-476B-9537-09FCF68A46B7}"/>
              </a:ext>
            </a:extLst>
          </p:cNvPr>
          <p:cNvSpPr>
            <a:spLocks xmlns:a="http://schemas.openxmlformats.org/drawingml/2006/main" noGrp="1"/>
          </p:cNvSpPr>
          <p:nvPr/>
        </p:nvSpPr>
        <p:spPr>
          <a:xfrm xmlns:a="http://schemas.openxmlformats.org/drawingml/2006/main">
            <a:off x="1524000" y="29337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Observed tradeoffs between return and risk</a:t>
            </a:r>
          </a:p>
        </p:txBody>
      </p:sp>
      <p:sp>
        <p:nvSpPr>
          <p:cNvPr id="7" name="">
            <a:extLst xmlns:a="http://schemas.openxmlformats.org/drawingml/2006/main">
              <a:ext uri="{FF2B5EF4-FFF2-40B4-BE49-F238E27FC236}">
                <a16:creationId xmlns:a16="http://schemas.microsoft.com/office/drawing/2014/main" id="{49171DA1-D832-4207-8E80-A56047AD499A}"/>
              </a:ext>
            </a:extLst>
          </p:cNvPr>
          <p:cNvSpPr>
            <a:spLocks xmlns:a="http://schemas.openxmlformats.org/drawingml/2006/main" noGrp="1"/>
          </p:cNvSpPr>
          <p:nvPr/>
        </p:nvSpPr>
        <p:spPr>
          <a:xfrm xmlns:a="http://schemas.openxmlformats.org/drawingml/2006/main">
            <a:off x="742950" y="39147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9B8"/>
                </a:solidFill>
              </a:defRPr>
            </a:defPPr>
          </a:lstStyle>
          <a:p xmlns:a="http://schemas.openxmlformats.org/drawingml/2006/main">
            <a:pPr>
              <a:defRPr sz="2250" b="1">
                <a:solidFill>
                  <a:srgbClr val="1479B8"/>
                </a:solidFill>
              </a:defRPr>
            </a:pPr>
            <a:r>
              <a:rPr sz="2250" b="1">
                <a:solidFill>
                  <a:srgbClr val="1479B8"/>
                </a:solidFill>
              </a:rPr>
              <a:t>03</a:t>
            </a:r>
          </a:p>
        </p:txBody>
      </p:sp>
      <p:sp>
        <p:nvSpPr>
          <p:cNvPr id="8" name="">
            <a:extLst xmlns:a="http://schemas.openxmlformats.org/drawingml/2006/main">
              <a:ext uri="{FF2B5EF4-FFF2-40B4-BE49-F238E27FC236}">
                <a16:creationId xmlns:a16="http://schemas.microsoft.com/office/drawing/2014/main" id="{2FB0E220-9985-4316-B9DE-C8536A0883E3}"/>
              </a:ext>
            </a:extLst>
          </p:cNvPr>
          <p:cNvSpPr>
            <a:spLocks xmlns:a="http://schemas.openxmlformats.org/drawingml/2006/main" noGrp="1"/>
          </p:cNvSpPr>
          <p:nvPr/>
        </p:nvSpPr>
        <p:spPr>
          <a:xfrm xmlns:a="http://schemas.openxmlformats.org/drawingml/2006/main">
            <a:off x="1524000" y="391477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4D"/>
                </a:solidFill>
              </a:defRPr>
            </a:defPPr>
          </a:lstStyle>
          <a:p xmlns:a="http://schemas.openxmlformats.org/drawingml/2006/main">
            <a:pPr>
              <a:defRPr sz="2400" b="0">
                <a:solidFill>
                  <a:srgbClr val="172B4D"/>
                </a:solidFill>
              </a:defRPr>
            </a:pPr>
            <a:r>
              <a:rPr sz="2400" b="0">
                <a:solidFill>
                  <a:srgbClr val="172B4D"/>
                </a:solidFill>
              </a:rPr>
              <a:t>Next: test more stocks and improve predictive features</a:t>
            </a:r>
          </a:p>
        </p:txBody>
      </p:sp>
      <p:sp>
        <p:nvSpPr>
          <p:cNvPr id="9" name="">
            <a:extLst xmlns:a="http://schemas.openxmlformats.org/drawingml/2006/main">
              <a:ext uri="{FF2B5EF4-FFF2-40B4-BE49-F238E27FC236}">
                <a16:creationId xmlns:a16="http://schemas.microsoft.com/office/drawing/2014/main" id="{009D39B0-20BA-4BDA-B2CC-34965DBA249D}"/>
              </a:ext>
            </a:extLst>
          </p:cNvPr>
          <p:cNvSpPr>
            <a:spLocks xmlns:a="http://schemas.openxmlformats.org/drawingml/2006/main" noGrp="1"/>
          </p:cNvSpPr>
          <p:nvPr/>
        </p:nvSpPr>
        <p:spPr>
          <a:xfrm xmlns:a="http://schemas.openxmlformats.org/drawingml/2006/main">
            <a:off x="1524000" y="538162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479B8"/>
                </a:solidFill>
              </a:defRPr>
            </a:defPPr>
          </a:lstStyle>
          <a:p xmlns:a="http://schemas.openxmlformats.org/drawingml/2006/main">
            <a:pPr>
              <a:defRPr sz="2550" b="1">
                <a:solidFill>
                  <a:srgbClr val="1479B8"/>
                </a:solidFill>
              </a:defRPr>
            </a:pPr>
            <a:r>
              <a:rPr sz="2550" b="1">
                <a:solidFill>
                  <a:srgbClr val="1479B8"/>
                </a:solidFill>
              </a:rPr>
              <a:t>Thank you. Questions?</a:t>
            </a:r>
          </a:p>
        </p:txBody>
      </p:sp>
    </p:spTree>
    <p:extLst>
      <p:ext uri="{BB962C8B-B14F-4D97-AF65-F5344CB8AC3E}">
        <p14:creationId xmlns:p14="http://schemas.microsoft.com/office/powerpoint/2010/main" val="2312177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2026-10-15T09:00:50.7850000Z</dcterms:created>
  <dcterms:modified xsi:type="dcterms:W3CDTF">2026-10-15T09:00:50.7850000Z</dcterms:modified>
</coreProperties>
</file>